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12" r:id="rId2"/>
    <p:sldId id="339" r:id="rId3"/>
    <p:sldId id="340" r:id="rId4"/>
    <p:sldId id="343" r:id="rId5"/>
    <p:sldId id="341" r:id="rId6"/>
    <p:sldId id="342" r:id="rId7"/>
    <p:sldId id="344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EE78FF3-5ACC-4B58-82F3-1E6464500746}">
          <p14:sldIdLst>
            <p14:sldId id="312"/>
            <p14:sldId id="339"/>
            <p14:sldId id="340"/>
            <p14:sldId id="343"/>
            <p14:sldId id="341"/>
            <p14:sldId id="342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0" autoAdjust="0"/>
    <p:restoredTop sz="94025" autoAdjust="0"/>
  </p:normalViewPr>
  <p:slideViewPr>
    <p:cSldViewPr snapToGrid="0" showGuides="1">
      <p:cViewPr>
        <p:scale>
          <a:sx n="75" d="100"/>
          <a:sy n="75" d="100"/>
        </p:scale>
        <p:origin x="945" y="270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>
                <a:latin typeface="+mn-ea"/>
              </a:rPr>
              <a:t>2026.4.2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>
            <a:extLst>
              <a:ext uri="{FF2B5EF4-FFF2-40B4-BE49-F238E27FC236}">
                <a16:creationId xmlns:a16="http://schemas.microsoft.com/office/drawing/2014/main" id="{507165C1-F777-D291-CA12-815DF8A2ED39}"/>
              </a:ext>
            </a:extLst>
          </p:cNvPr>
          <p:cNvSpPr txBox="1"/>
          <p:nvPr/>
        </p:nvSpPr>
        <p:spPr>
          <a:xfrm>
            <a:off x="446644" y="192699"/>
            <a:ext cx="178766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闭环动力学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D604AB-6B6E-1D4A-9AA0-38F5115B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93" y="1220910"/>
            <a:ext cx="2410856" cy="5250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0FDF14-E09F-C2C1-9DA2-8BC4B99AA1D3}"/>
              </a:ext>
            </a:extLst>
          </p:cNvPr>
          <p:cNvSpPr txBox="1"/>
          <p:nvPr/>
        </p:nvSpPr>
        <p:spPr>
          <a:xfrm>
            <a:off x="521193" y="80448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定义原始误差状态变量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4758964-12DF-550B-D970-5E14B038C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44" y="1766740"/>
            <a:ext cx="5533406" cy="5262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782E0D9-C5C7-EA88-176C-7E5B4E741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41" y="2401615"/>
            <a:ext cx="4114321" cy="47591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9B77AD4-204B-837E-E8E5-D0A5C90411CE}"/>
              </a:ext>
            </a:extLst>
          </p:cNvPr>
          <p:cNvSpPr txBox="1"/>
          <p:nvPr/>
        </p:nvSpPr>
        <p:spPr>
          <a:xfrm>
            <a:off x="521193" y="308975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闭环误差系统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1729C0F-641D-41E2-234F-445882238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93" y="6122835"/>
            <a:ext cx="3374532" cy="7351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565714C-D0A9-A48A-ACA8-BBD040AA2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193" y="3579435"/>
            <a:ext cx="1436396" cy="99442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B5D2C8A-5AA1-6583-CE35-0E315D93FB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193" y="4755766"/>
            <a:ext cx="6922186" cy="44596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3821919-2650-E80C-21FC-4E36D25683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644" y="5340320"/>
            <a:ext cx="3802336" cy="66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BC58D-43DE-426B-52D5-65E582A1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>
            <a:extLst>
              <a:ext uri="{FF2B5EF4-FFF2-40B4-BE49-F238E27FC236}">
                <a16:creationId xmlns:a16="http://schemas.microsoft.com/office/drawing/2014/main" id="{752ABD7A-18F2-8495-537C-6B4526DA0949}"/>
              </a:ext>
            </a:extLst>
          </p:cNvPr>
          <p:cNvSpPr txBox="1"/>
          <p:nvPr/>
        </p:nvSpPr>
        <p:spPr>
          <a:xfrm>
            <a:off x="446644" y="192699"/>
            <a:ext cx="178766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闭环动力学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73B4F16-E4F4-6D61-8B91-8D58C123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3" y="1989588"/>
            <a:ext cx="6090505" cy="207313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E8E3EEC-A5A0-5A62-76F7-FE0422D32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534" y="1792928"/>
            <a:ext cx="5052831" cy="26586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A3C217-68E1-E6A7-D22B-70C518849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7315"/>
            <a:ext cx="12192000" cy="66275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A9D14D5-2B80-FD31-F247-5126636F894A}"/>
              </a:ext>
            </a:extLst>
          </p:cNvPr>
          <p:cNvCxnSpPr>
            <a:cxnSpLocks/>
          </p:cNvCxnSpPr>
          <p:nvPr/>
        </p:nvCxnSpPr>
        <p:spPr>
          <a:xfrm flipV="1">
            <a:off x="47633" y="1636549"/>
            <a:ext cx="12000280" cy="49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F866CAA0-E75E-3265-EA38-E4099FAAC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4" y="5548141"/>
            <a:ext cx="1294998" cy="3550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0BCC339-91CE-3CC1-F895-A5AE95254B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4313" y="4635129"/>
            <a:ext cx="6356896" cy="218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9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3D96-6092-DD40-15B9-758F42E3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>
            <a:extLst>
              <a:ext uri="{FF2B5EF4-FFF2-40B4-BE49-F238E27FC236}">
                <a16:creationId xmlns:a16="http://schemas.microsoft.com/office/drawing/2014/main" id="{26523691-CA68-A5D8-FA81-3CE186B0D120}"/>
              </a:ext>
            </a:extLst>
          </p:cNvPr>
          <p:cNvSpPr txBox="1"/>
          <p:nvPr/>
        </p:nvSpPr>
        <p:spPr>
          <a:xfrm>
            <a:off x="446644" y="192699"/>
            <a:ext cx="1467068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去除冗余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69E970-0B6F-0939-6E4C-07410795D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4" y="887095"/>
            <a:ext cx="7081729" cy="63261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7E5BAD5-0911-5794-C721-2ADE6964A9FE}"/>
              </a:ext>
            </a:extLst>
          </p:cNvPr>
          <p:cNvSpPr txBox="1"/>
          <p:nvPr/>
        </p:nvSpPr>
        <p:spPr>
          <a:xfrm>
            <a:off x="8302528" y="1049511"/>
            <a:ext cx="2023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候选</a:t>
            </a:r>
            <a:r>
              <a:rPr lang="en-US" altLang="zh-CN" sz="1400" b="1" dirty="0"/>
              <a:t>theta3</a:t>
            </a:r>
            <a:r>
              <a:rPr lang="zh-CN" altLang="en-US" sz="1400" b="1" dirty="0"/>
              <a:t>约束可去除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C2EE97-9AB3-C91F-068E-12964354B530}"/>
              </a:ext>
            </a:extLst>
          </p:cNvPr>
          <p:cNvSpPr txBox="1"/>
          <p:nvPr/>
        </p:nvSpPr>
        <p:spPr>
          <a:xfrm>
            <a:off x="107522" y="1524762"/>
            <a:ext cx="6857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proof</a:t>
            </a:r>
            <a:endParaRPr lang="zh-CN" altLang="en-US" sz="1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4CFB0DF-13B0-9879-3461-6127863E4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19" y="2016040"/>
            <a:ext cx="1774480" cy="2729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20A706A-F00D-167A-1C62-EC8B96A61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19" y="3024305"/>
            <a:ext cx="2539545" cy="3275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996F612-639C-8734-4955-9A22D7AC7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19" y="2471761"/>
            <a:ext cx="6231437" cy="32568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CB70972-3A04-576B-33A6-AA74960ABE0B}"/>
              </a:ext>
            </a:extLst>
          </p:cNvPr>
          <p:cNvSpPr txBox="1"/>
          <p:nvPr/>
        </p:nvSpPr>
        <p:spPr>
          <a:xfrm>
            <a:off x="2683726" y="1998649"/>
            <a:ext cx="81945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trivial motion: </a:t>
            </a:r>
            <a:r>
              <a:rPr lang="zh-CN" altLang="en-US" sz="1400" b="1" dirty="0"/>
              <a:t>平移 绕平面法向量旋转，设置</a:t>
            </a:r>
            <a:r>
              <a:rPr lang="en-US" altLang="zh-CN" sz="1400" b="1" dirty="0"/>
              <a:t>p2</a:t>
            </a:r>
            <a:r>
              <a:rPr lang="zh-CN" altLang="en-US" sz="1400" b="1" dirty="0"/>
              <a:t>位置为原点 </a:t>
            </a:r>
            <a:r>
              <a:rPr lang="en-US" altLang="zh-CN" sz="1400" b="1" dirty="0"/>
              <a:t>p1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轴坐标为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，去除</a:t>
            </a:r>
            <a:r>
              <a:rPr lang="en-US" altLang="zh-CN" sz="1400" b="1" dirty="0"/>
              <a:t>trivial motion</a:t>
            </a:r>
            <a:endParaRPr lang="zh-CN" altLang="en-US" sz="1400" b="1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C3504C4-D4CB-22B5-3D4F-F66363CFF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519" y="3475682"/>
            <a:ext cx="6632504" cy="54763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3492932-F16D-140C-ECC7-776AB4289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5426" y="4977980"/>
            <a:ext cx="4735757" cy="171736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704CE64-9A71-C125-A213-149B615E0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8810" y="2520232"/>
            <a:ext cx="4513074" cy="169879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9C0A300-E1A1-605E-D59C-6BDB00A1F09C}"/>
              </a:ext>
            </a:extLst>
          </p:cNvPr>
          <p:cNvSpPr txBox="1"/>
          <p:nvPr/>
        </p:nvSpPr>
        <p:spPr>
          <a:xfrm>
            <a:off x="3275851" y="3010962"/>
            <a:ext cx="2853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eta </a:t>
            </a:r>
            <a:r>
              <a:rPr lang="zh-CN" altLang="en-US" sz="1400" b="1" dirty="0"/>
              <a:t>用于表示局部构型附近的误差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CEF919A-63DD-7C68-687F-60E41E67F3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518" y="4415076"/>
            <a:ext cx="7710966" cy="27299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EB557ED-88BF-FAB7-640C-96D5B9FB02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518" y="5001374"/>
            <a:ext cx="5208474" cy="22857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E13875C-1A46-C18B-0EC8-89162FD69B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518" y="5428492"/>
            <a:ext cx="2459227" cy="25337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3E476BE-F0EA-9142-E351-57B33A53A1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104" y="5884990"/>
            <a:ext cx="3338667" cy="30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3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8626-5BDE-DCA4-2729-242883BF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>
            <a:extLst>
              <a:ext uri="{FF2B5EF4-FFF2-40B4-BE49-F238E27FC236}">
                <a16:creationId xmlns:a16="http://schemas.microsoft.com/office/drawing/2014/main" id="{2A9B3E3C-3A11-92D2-C6EA-14AED7F9D4FC}"/>
              </a:ext>
            </a:extLst>
          </p:cNvPr>
          <p:cNvSpPr txBox="1"/>
          <p:nvPr/>
        </p:nvSpPr>
        <p:spPr>
          <a:xfrm>
            <a:off x="446644" y="192699"/>
            <a:ext cx="215026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Hurwitz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分析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EA04F9-42DC-0200-9BFC-EEC235AB2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4" y="873225"/>
            <a:ext cx="4973385" cy="18203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CA6AEA0-5DAE-3598-97C9-3877A16FA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2" y="2861209"/>
            <a:ext cx="6018586" cy="567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72A845-B3F7-9D65-2B7E-6E6081EC5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42" y="3505841"/>
            <a:ext cx="9271501" cy="4620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2F71A57-FAD6-99EA-CF11-DA629FB87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44" y="4164452"/>
            <a:ext cx="7515700" cy="123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8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881BD-A037-A754-96A2-D0FB50DB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>
            <a:extLst>
              <a:ext uri="{FF2B5EF4-FFF2-40B4-BE49-F238E27FC236}">
                <a16:creationId xmlns:a16="http://schemas.microsoft.com/office/drawing/2014/main" id="{218D22F1-8C95-8D81-1FD3-A1F2439A82D0}"/>
              </a:ext>
            </a:extLst>
          </p:cNvPr>
          <p:cNvSpPr txBox="1"/>
          <p:nvPr/>
        </p:nvSpPr>
        <p:spPr>
          <a:xfrm>
            <a:off x="446644" y="192699"/>
            <a:ext cx="210826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坐标无关推广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C97D3F-208B-48ED-AD52-E792177DF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4" y="859677"/>
            <a:ext cx="5018589" cy="6762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EDDE9E-0ECF-B317-6D4C-67668377C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44" y="1603413"/>
            <a:ext cx="4248123" cy="3723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511208-4335-E1F7-6A00-49FEFFCCE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1" y="2043230"/>
            <a:ext cx="6445782" cy="28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0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24BE9-39B8-2D5A-8524-2A45A1025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文本框 92">
            <a:extLst>
              <a:ext uri="{FF2B5EF4-FFF2-40B4-BE49-F238E27FC236}">
                <a16:creationId xmlns:a16="http://schemas.microsoft.com/office/drawing/2014/main" id="{51B6EE50-9361-9F3D-1BDA-8529957758F4}"/>
              </a:ext>
            </a:extLst>
          </p:cNvPr>
          <p:cNvSpPr txBox="1"/>
          <p:nvPr/>
        </p:nvSpPr>
        <p:spPr>
          <a:xfrm>
            <a:off x="446644" y="192699"/>
            <a:ext cx="2108269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坐标无关推广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573E8C-EB0D-67BB-67FF-490638B94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4" y="859677"/>
            <a:ext cx="5018589" cy="6762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308CCD-E48D-4395-DB43-31FE35B32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44" y="1603413"/>
            <a:ext cx="4248123" cy="3723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E38AE1-D9D4-6481-9939-2D4290403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1" y="2043230"/>
            <a:ext cx="6445782" cy="28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02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12842</TotalTime>
  <Words>74</Words>
  <Application>Microsoft Office PowerPoint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1685</cp:revision>
  <dcterms:created xsi:type="dcterms:W3CDTF">2024-12-30T12:20:00Z</dcterms:created>
  <dcterms:modified xsi:type="dcterms:W3CDTF">2026-04-10T02:22:05Z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