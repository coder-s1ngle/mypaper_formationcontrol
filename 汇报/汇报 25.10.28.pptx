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12" r:id="rId2"/>
    <p:sldId id="320" r:id="rId3"/>
  </p:sldIdLst>
  <p:sldSz cx="12192000" cy="6858000"/>
  <p:notesSz cx="6858000" cy="9144000"/>
  <p:custDataLst>
    <p:tags r:id="rId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94" userDrawn="1">
          <p15:clr>
            <a:srgbClr val="A4A3A4"/>
          </p15:clr>
        </p15:guide>
        <p15:guide id="4" pos="7129" userDrawn="1">
          <p15:clr>
            <a:srgbClr val="A4A3A4"/>
          </p15:clr>
        </p15:guide>
        <p15:guide id="5" orient="horz" pos="459" userDrawn="1">
          <p15:clr>
            <a:srgbClr val="A4A3A4"/>
          </p15:clr>
        </p15:guide>
        <p15:guide id="6" orient="horz" pos="3861" userDrawn="1">
          <p15:clr>
            <a:srgbClr val="A4A3A4"/>
          </p15:clr>
        </p15:guide>
        <p15:guide id="7" pos="347" userDrawn="1">
          <p15:clr>
            <a:srgbClr val="A4A3A4"/>
          </p15:clr>
        </p15:guide>
        <p15:guide id="8" pos="73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 autoAdjust="0"/>
    <p:restoredTop sz="93265" autoAdjust="0"/>
  </p:normalViewPr>
  <p:slideViewPr>
    <p:cSldViewPr snapToGrid="0" showGuides="1">
      <p:cViewPr varScale="1">
        <p:scale>
          <a:sx n="160" d="100"/>
          <a:sy n="160" d="100"/>
        </p:scale>
        <p:origin x="96" y="200"/>
      </p:cViewPr>
      <p:guideLst>
        <p:guide orient="horz" pos="2170"/>
        <p:guide pos="3840"/>
        <p:guide pos="594"/>
        <p:guide pos="7129"/>
        <p:guide orient="horz" pos="459"/>
        <p:guide orient="horz" pos="3861"/>
        <p:guide pos="347"/>
        <p:guide pos="73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63A5E-7876-4EE8-8911-34AC3DFAAD6A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78E1EA-5B9D-47B4-B3BE-1788425ED1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550863" y="625654"/>
            <a:ext cx="1109027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550863" y="625654"/>
            <a:ext cx="1109027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7EF37B-83A2-4D9B-A938-F8A337ADEAFF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017788"/>
            <a:ext cx="12192000" cy="2493433"/>
          </a:xfrm>
          <a:prstGeom prst="rect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5" name="组合 84"/>
          <p:cNvGrpSpPr/>
          <p:nvPr/>
        </p:nvGrpSpPr>
        <p:grpSpPr>
          <a:xfrm flipH="1" flipV="1">
            <a:off x="11249025" y="6335607"/>
            <a:ext cx="596597" cy="262959"/>
            <a:chOff x="352728" y="249931"/>
            <a:chExt cx="723900" cy="319070"/>
          </a:xfrm>
        </p:grpSpPr>
        <p:sp>
          <p:nvSpPr>
            <p:cNvPr id="86" name="矩形: 圆角 85"/>
            <p:cNvSpPr/>
            <p:nvPr/>
          </p:nvSpPr>
          <p:spPr>
            <a:xfrm>
              <a:off x="352728" y="249931"/>
              <a:ext cx="72390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矩形: 圆角 86"/>
            <p:cNvSpPr/>
            <p:nvPr/>
          </p:nvSpPr>
          <p:spPr>
            <a:xfrm>
              <a:off x="352728" y="372506"/>
              <a:ext cx="52516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矩形: 圆角 87"/>
            <p:cNvSpPr/>
            <p:nvPr/>
          </p:nvSpPr>
          <p:spPr>
            <a:xfrm>
              <a:off x="352728" y="495081"/>
              <a:ext cx="35371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6" name="文本框 105"/>
          <p:cNvSpPr txBox="1"/>
          <p:nvPr/>
        </p:nvSpPr>
        <p:spPr>
          <a:xfrm>
            <a:off x="4233952" y="2675023"/>
            <a:ext cx="37240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b="1" spc="200" dirty="0">
                <a:solidFill>
                  <a:schemeClr val="bg1"/>
                </a:solidFill>
                <a:latin typeface="+mj-ea"/>
                <a:ea typeface="+mj-ea"/>
              </a:rPr>
              <a:t>学习进展汇报</a:t>
            </a:r>
          </a:p>
        </p:txBody>
      </p:sp>
      <p:sp>
        <p:nvSpPr>
          <p:cNvPr id="99" name="文本框 98"/>
          <p:cNvSpPr txBox="1"/>
          <p:nvPr/>
        </p:nvSpPr>
        <p:spPr>
          <a:xfrm>
            <a:off x="2999383" y="5157245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汇报人：朱铮扬</a:t>
            </a:r>
          </a:p>
        </p:txBody>
      </p:sp>
      <p:sp>
        <p:nvSpPr>
          <p:cNvPr id="104" name="文本框 103"/>
          <p:cNvSpPr txBox="1"/>
          <p:nvPr/>
        </p:nvSpPr>
        <p:spPr>
          <a:xfrm>
            <a:off x="6916368" y="5157245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汇报日期：</a:t>
            </a:r>
            <a:r>
              <a:rPr lang="en-US" altLang="zh-CN" dirty="0">
                <a:latin typeface="+mn-ea"/>
              </a:rPr>
              <a:t>2025.10.28</a:t>
            </a:r>
            <a:endParaRPr lang="zh-CN" altLang="en-US" dirty="0"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46644" y="192699"/>
            <a:ext cx="3376245" cy="46166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zh-CN" sz="2400" b="1" spc="100" dirty="0">
                <a:solidFill>
                  <a:schemeClr val="accent1"/>
                </a:solidFill>
                <a:latin typeface="+mj-ea"/>
                <a:ea typeface="+mj-ea"/>
              </a:rPr>
              <a:t>1 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  <a:ea typeface="+mj-ea"/>
              </a:rPr>
              <a:t>完成无人机建模仿真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715C0B0-6EC6-17CA-D79F-B1059134B4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5623" y="778402"/>
            <a:ext cx="3551583" cy="276234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91FE128-55EA-3B43-9818-A4A01094C4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5879" y="778402"/>
            <a:ext cx="2836834" cy="283683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54324CD-C95A-4C9D-64A6-458242E496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5941" y="4289300"/>
            <a:ext cx="3775047" cy="188752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C691C8A7-1643-17AE-4B9E-7F26C6E674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327" y="4289300"/>
            <a:ext cx="3882296" cy="1941148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66398E1F-97CF-D771-45E4-B6C372A110EB}"/>
              </a:ext>
            </a:extLst>
          </p:cNvPr>
          <p:cNvSpPr txBox="1"/>
          <p:nvPr/>
        </p:nvSpPr>
        <p:spPr>
          <a:xfrm>
            <a:off x="414794" y="1122054"/>
            <a:ext cx="5230065" cy="4613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dirty="0">
                <a:latin typeface="微软雅黑" panose="020B0503020204020204" charset="-122"/>
                <a:ea typeface="思源黑体 CN Regular"/>
              </a:rPr>
              <a:t>无人机追踪路径：</a:t>
            </a:r>
            <a:endParaRPr lang="en-US" altLang="zh-CN" dirty="0">
              <a:latin typeface="微软雅黑" panose="020B0503020204020204" charset="-122"/>
              <a:ea typeface="思源黑体 CN Regular"/>
            </a:endParaRPr>
          </a:p>
          <a:p>
            <a:pPr lvl="0">
              <a:lnSpc>
                <a:spcPct val="150000"/>
              </a:lnSpc>
              <a:defRPr/>
            </a:pPr>
            <a:r>
              <a:rPr lang="fr-FR" altLang="zh-CN" dirty="0">
                <a:ea typeface="思源黑体 CN Regular"/>
              </a:rPr>
              <a:t>const double omega = 2.0 * M_PI * 0.05;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dirty="0" err="1">
                <a:ea typeface="思源黑体 CN Regular"/>
              </a:rPr>
              <a:t>Target_x</a:t>
            </a:r>
            <a:r>
              <a:rPr lang="en-US" altLang="zh-CN" dirty="0">
                <a:ea typeface="思源黑体 CN Regular"/>
              </a:rPr>
              <a:t> = 2.0 * std::cos(omega * </a:t>
            </a:r>
            <a:r>
              <a:rPr lang="en-US" altLang="zh-CN" dirty="0" err="1">
                <a:ea typeface="思源黑体 CN Regular"/>
              </a:rPr>
              <a:t>tt</a:t>
            </a:r>
            <a:r>
              <a:rPr lang="en-US" altLang="zh-CN" dirty="0">
                <a:ea typeface="思源黑体 CN Regular"/>
              </a:rPr>
              <a:t>);       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dirty="0" err="1">
                <a:ea typeface="思源黑体 CN Regular"/>
              </a:rPr>
              <a:t>Target_y</a:t>
            </a:r>
            <a:r>
              <a:rPr lang="en-US" altLang="zh-CN" dirty="0">
                <a:ea typeface="思源黑体 CN Regular"/>
              </a:rPr>
              <a:t> = 2.0 * std::sin(omega * </a:t>
            </a:r>
            <a:r>
              <a:rPr lang="en-US" altLang="zh-CN" dirty="0" err="1">
                <a:ea typeface="思源黑体 CN Regular"/>
              </a:rPr>
              <a:t>tt</a:t>
            </a:r>
            <a:r>
              <a:rPr lang="en-US" altLang="zh-CN" dirty="0">
                <a:ea typeface="思源黑体 CN Regular"/>
              </a:rPr>
              <a:t>); </a:t>
            </a:r>
          </a:p>
          <a:p>
            <a:pPr lvl="0">
              <a:lnSpc>
                <a:spcPct val="150000"/>
              </a:lnSpc>
              <a:defRPr/>
            </a:pPr>
            <a:r>
              <a:rPr lang="en-US" altLang="zh-CN" dirty="0" err="1">
                <a:ea typeface="思源黑体 CN Regular"/>
              </a:rPr>
              <a:t>Target_z</a:t>
            </a:r>
            <a:r>
              <a:rPr lang="en-US" altLang="zh-CN" dirty="0">
                <a:ea typeface="思源黑体 CN Regular"/>
              </a:rPr>
              <a:t> = -1.0;</a:t>
            </a:r>
          </a:p>
          <a:p>
            <a:pPr lvl="0">
              <a:lnSpc>
                <a:spcPct val="150000"/>
              </a:lnSpc>
              <a:defRPr/>
            </a:pPr>
            <a:endParaRPr lang="en-US" altLang="zh-CN" dirty="0">
              <a:ea typeface="思源黑体 CN Regular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dirty="0">
                <a:ea typeface="思源黑体 CN Regular"/>
              </a:rPr>
              <a:t>控制方法：</a:t>
            </a:r>
            <a:endParaRPr lang="en-US" altLang="zh-CN" dirty="0">
              <a:ea typeface="思源黑体 CN Regular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dirty="0">
                <a:ea typeface="思源黑体 CN Regular"/>
              </a:rPr>
              <a:t>双环串级</a:t>
            </a:r>
            <a:r>
              <a:rPr lang="en-US" altLang="zh-CN" dirty="0" err="1">
                <a:ea typeface="思源黑体 CN Regular"/>
              </a:rPr>
              <a:t>pid</a:t>
            </a:r>
            <a:r>
              <a:rPr lang="zh-CN" altLang="en-US" dirty="0">
                <a:ea typeface="思源黑体 CN Regular"/>
              </a:rPr>
              <a:t>控制算法</a:t>
            </a:r>
            <a:endParaRPr lang="en-US" altLang="zh-CN" dirty="0">
              <a:ea typeface="思源黑体 CN Regular"/>
            </a:endParaRPr>
          </a:p>
          <a:p>
            <a:pPr lvl="0">
              <a:lnSpc>
                <a:spcPct val="150000"/>
              </a:lnSpc>
              <a:defRPr/>
            </a:pPr>
            <a:endParaRPr lang="en-US" altLang="zh-CN" dirty="0">
              <a:ea typeface="思源黑体 CN Regular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dirty="0">
                <a:ea typeface="思源黑体 CN Regular"/>
              </a:rPr>
              <a:t>坐标系转换：</a:t>
            </a:r>
            <a:endParaRPr lang="en-US" altLang="zh-CN" dirty="0">
              <a:ea typeface="思源黑体 CN Regular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zh-CN" dirty="0">
                <a:ea typeface="思源黑体 CN Regular"/>
              </a:rPr>
              <a:t>NED-&gt;ENU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GE3Y2I3OTRlNTA1NjUwZGY1NGI3NTM4NWZhMGI4N2IifQ=="/>
</p:tagLst>
</file>

<file path=ppt/theme/theme1.xml><?xml version="1.0" encoding="utf-8"?>
<a:theme xmlns:a="http://schemas.openxmlformats.org/drawingml/2006/main" name="Office 主题​​">
  <a:themeElements>
    <a:clrScheme name="1-灰蓝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497B"/>
      </a:accent1>
      <a:accent2>
        <a:srgbClr val="D9D9D9"/>
      </a:accent2>
      <a:accent3>
        <a:srgbClr val="F2F2F2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85</Words>
  <Application>Microsoft Office PowerPoint</Application>
  <PresentationFormat>宽屏</PresentationFormat>
  <Paragraphs>15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思源黑体 CN Regular</vt:lpstr>
      <vt:lpstr>微软雅黑</vt:lpstr>
      <vt:lpstr>Arial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香 草</dc:creator>
  <cp:lastModifiedBy>铮扬 朱</cp:lastModifiedBy>
  <cp:revision>363</cp:revision>
  <dcterms:created xsi:type="dcterms:W3CDTF">2024-12-30T12:20:00Z</dcterms:created>
  <dcterms:modified xsi:type="dcterms:W3CDTF">2025-10-28T17:52:42Z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0CB2F8EEEECD470B9D8DE2D345962899_12</vt:lpwstr>
  </property>
  <property fmtid="{D5CDD505-2E9C-101B-9397-08002B2CF9AE}" pid="3" name="KSOProductBuildVer">
    <vt:lpwstr>2052-12.1.0.16120</vt:lpwstr>
  </property>
</Properties>
</file>