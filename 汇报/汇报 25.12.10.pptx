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312" r:id="rId2"/>
    <p:sldId id="330" r:id="rId3"/>
    <p:sldId id="331" r:id="rId4"/>
    <p:sldId id="321" r:id="rId5"/>
    <p:sldId id="332" r:id="rId6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94" userDrawn="1">
          <p15:clr>
            <a:srgbClr val="A4A3A4"/>
          </p15:clr>
        </p15:guide>
        <p15:guide id="4" pos="7129" userDrawn="1">
          <p15:clr>
            <a:srgbClr val="A4A3A4"/>
          </p15:clr>
        </p15:guide>
        <p15:guide id="5" orient="horz" pos="459" userDrawn="1">
          <p15:clr>
            <a:srgbClr val="A4A3A4"/>
          </p15:clr>
        </p15:guide>
        <p15:guide id="6" orient="horz" pos="3861" userDrawn="1">
          <p15:clr>
            <a:srgbClr val="A4A3A4"/>
          </p15:clr>
        </p15:guide>
        <p15:guide id="7" pos="347" userDrawn="1">
          <p15:clr>
            <a:srgbClr val="A4A3A4"/>
          </p15:clr>
        </p15:guide>
        <p15:guide id="8" pos="73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3265" autoAdjust="0"/>
  </p:normalViewPr>
  <p:slideViewPr>
    <p:cSldViewPr snapToGrid="0" showGuides="1">
      <p:cViewPr>
        <p:scale>
          <a:sx n="150" d="100"/>
          <a:sy n="150" d="100"/>
        </p:scale>
        <p:origin x="72" y="352"/>
      </p:cViewPr>
      <p:guideLst>
        <p:guide orient="horz" pos="2170"/>
        <p:guide pos="3840"/>
        <p:guide pos="594"/>
        <p:guide pos="7129"/>
        <p:guide orient="horz" pos="459"/>
        <p:guide orient="horz" pos="3861"/>
        <p:guide pos="347"/>
        <p:guide pos="733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63A5E-7876-4EE8-8911-34AC3DFAAD6A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78E1EA-5B9D-47B4-B3BE-1788425ED15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2" name="直接连接符 1"/>
          <p:cNvCxnSpPr/>
          <p:nvPr userDrawn="1"/>
        </p:nvCxnSpPr>
        <p:spPr>
          <a:xfrm>
            <a:off x="550863" y="625654"/>
            <a:ext cx="1109027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550863" y="625654"/>
            <a:ext cx="1109027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7EF37B-83A2-4D9B-A938-F8A337ADEAFF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7EF37B-83A2-4D9B-A938-F8A337ADEAFF}" type="datetimeFigureOut">
              <a:rPr lang="zh-CN" altLang="en-US" smtClean="0"/>
              <a:t>2025/12/11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A3B243-30F4-422C-A9D9-AA2B57F8C2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6.wmf"/><Relationship Id="rId18" Type="http://schemas.openxmlformats.org/officeDocument/2006/relationships/oleObject" Target="../embeddings/oleObject9.bin"/><Relationship Id="rId26" Type="http://schemas.openxmlformats.org/officeDocument/2006/relationships/oleObject" Target="../embeddings/oleObject13.bin"/><Relationship Id="rId3" Type="http://schemas.openxmlformats.org/officeDocument/2006/relationships/image" Target="../media/image1.wmf"/><Relationship Id="rId21" Type="http://schemas.openxmlformats.org/officeDocument/2006/relationships/image" Target="../media/image10.wmf"/><Relationship Id="rId7" Type="http://schemas.openxmlformats.org/officeDocument/2006/relationships/image" Target="../media/image3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8.wmf"/><Relationship Id="rId25" Type="http://schemas.openxmlformats.org/officeDocument/2006/relationships/image" Target="../media/image12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29" Type="http://schemas.openxmlformats.org/officeDocument/2006/relationships/image" Target="../media/image14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wmf"/><Relationship Id="rId24" Type="http://schemas.openxmlformats.org/officeDocument/2006/relationships/oleObject" Target="../embeddings/oleObject12.bin"/><Relationship Id="rId5" Type="http://schemas.openxmlformats.org/officeDocument/2006/relationships/image" Target="../media/image2.wmf"/><Relationship Id="rId15" Type="http://schemas.openxmlformats.org/officeDocument/2006/relationships/image" Target="../media/image7.wmf"/><Relationship Id="rId23" Type="http://schemas.openxmlformats.org/officeDocument/2006/relationships/image" Target="../media/image11.wmf"/><Relationship Id="rId28" Type="http://schemas.openxmlformats.org/officeDocument/2006/relationships/oleObject" Target="../embeddings/oleObject14.bin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9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Relationship Id="rId14" Type="http://schemas.openxmlformats.org/officeDocument/2006/relationships/oleObject" Target="../embeddings/oleObject7.bin"/><Relationship Id="rId22" Type="http://schemas.openxmlformats.org/officeDocument/2006/relationships/oleObject" Target="../embeddings/oleObject11.bin"/><Relationship Id="rId27" Type="http://schemas.openxmlformats.org/officeDocument/2006/relationships/image" Target="../media/image13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gi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7" Type="http://schemas.openxmlformats.org/officeDocument/2006/relationships/image" Target="../media/image24.png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wmf"/><Relationship Id="rId4" Type="http://schemas.openxmlformats.org/officeDocument/2006/relationships/oleObject" Target="../embeddings/oleObject16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2017788"/>
            <a:ext cx="12192000" cy="2493433"/>
          </a:xfrm>
          <a:prstGeom prst="rect">
            <a:avLst/>
          </a:prstGeom>
          <a:solidFill>
            <a:schemeClr val="accent1"/>
          </a:solidFill>
          <a:ln w="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5" name="组合 84"/>
          <p:cNvGrpSpPr/>
          <p:nvPr/>
        </p:nvGrpSpPr>
        <p:grpSpPr>
          <a:xfrm flipH="1" flipV="1">
            <a:off x="11249025" y="6335607"/>
            <a:ext cx="596597" cy="262959"/>
            <a:chOff x="352728" y="249931"/>
            <a:chExt cx="723900" cy="319070"/>
          </a:xfrm>
        </p:grpSpPr>
        <p:sp>
          <p:nvSpPr>
            <p:cNvPr id="86" name="矩形: 圆角 85"/>
            <p:cNvSpPr/>
            <p:nvPr/>
          </p:nvSpPr>
          <p:spPr>
            <a:xfrm>
              <a:off x="352728" y="249931"/>
              <a:ext cx="723900" cy="7392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矩形: 圆角 86"/>
            <p:cNvSpPr/>
            <p:nvPr/>
          </p:nvSpPr>
          <p:spPr>
            <a:xfrm>
              <a:off x="352728" y="372506"/>
              <a:ext cx="525160" cy="7392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矩形: 圆角 87"/>
            <p:cNvSpPr/>
            <p:nvPr/>
          </p:nvSpPr>
          <p:spPr>
            <a:xfrm>
              <a:off x="352728" y="495081"/>
              <a:ext cx="353710" cy="73920"/>
            </a:xfrm>
            <a:prstGeom prst="roundRect">
              <a:avLst>
                <a:gd name="adj" fmla="val 5000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6" name="文本框 105"/>
          <p:cNvSpPr txBox="1"/>
          <p:nvPr/>
        </p:nvSpPr>
        <p:spPr>
          <a:xfrm>
            <a:off x="4233952" y="2675023"/>
            <a:ext cx="372409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400" b="1" spc="200" dirty="0">
                <a:solidFill>
                  <a:schemeClr val="bg1"/>
                </a:solidFill>
                <a:latin typeface="+mj-ea"/>
                <a:ea typeface="+mj-ea"/>
              </a:rPr>
              <a:t>学习进展汇报</a:t>
            </a:r>
          </a:p>
        </p:txBody>
      </p:sp>
      <p:sp>
        <p:nvSpPr>
          <p:cNvPr id="99" name="文本框 98"/>
          <p:cNvSpPr txBox="1"/>
          <p:nvPr/>
        </p:nvSpPr>
        <p:spPr>
          <a:xfrm>
            <a:off x="2999383" y="5157245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</a:rPr>
              <a:t>汇报人：朱铮扬</a:t>
            </a:r>
          </a:p>
        </p:txBody>
      </p:sp>
      <p:sp>
        <p:nvSpPr>
          <p:cNvPr id="104" name="文本框 103"/>
          <p:cNvSpPr txBox="1"/>
          <p:nvPr/>
        </p:nvSpPr>
        <p:spPr>
          <a:xfrm>
            <a:off x="6916368" y="5157245"/>
            <a:ext cx="2528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</a:rPr>
              <a:t>汇报日期：</a:t>
            </a:r>
            <a:r>
              <a:rPr lang="en-US" altLang="zh-CN" dirty="0">
                <a:latin typeface="+mn-ea"/>
              </a:rPr>
              <a:t>2025.12.10</a:t>
            </a:r>
            <a:endParaRPr lang="zh-CN" altLang="en-US" dirty="0"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1E3AA-F1E5-160F-0916-F08D6F987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5DE348C-B387-C189-741F-72D33EDEE940}"/>
              </a:ext>
            </a:extLst>
          </p:cNvPr>
          <p:cNvSpPr txBox="1"/>
          <p:nvPr/>
        </p:nvSpPr>
        <p:spPr>
          <a:xfrm>
            <a:off x="446644" y="192699"/>
            <a:ext cx="2437911" cy="46166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zh-CN" sz="2400" b="1" spc="100" dirty="0">
                <a:solidFill>
                  <a:schemeClr val="accent1"/>
                </a:solidFill>
                <a:latin typeface="+mj-ea"/>
                <a:ea typeface="+mj-ea"/>
              </a:rPr>
              <a:t>1 LQR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  <a:ea typeface="+mj-ea"/>
              </a:rPr>
              <a:t>最优控制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56FA3C28-F022-45E6-11CC-46BD1A9372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7186038"/>
              </p:ext>
            </p:extLst>
          </p:nvPr>
        </p:nvGraphicFramePr>
        <p:xfrm>
          <a:off x="553509" y="844022"/>
          <a:ext cx="1270000" cy="68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2" imgW="705600" imgH="378000" progId="Equation.AxMath">
                  <p:embed/>
                </p:oleObj>
              </mc:Choice>
              <mc:Fallback>
                <p:oleObj name="AxMath" r:id="rId2" imgW="705600" imgH="378000" progId="Equation.AxMath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675E7F39-D25E-F569-F04F-B79AF008A8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53509" y="844022"/>
                        <a:ext cx="1270000" cy="6826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CE018684-C250-00D7-4B72-C4F62B26AC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5285238"/>
              </p:ext>
            </p:extLst>
          </p:nvPr>
        </p:nvGraphicFramePr>
        <p:xfrm>
          <a:off x="8186086" y="682436"/>
          <a:ext cx="1377950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4" imgW="765360" imgH="374400" progId="Equation.AxMath">
                  <p:embed/>
                </p:oleObj>
              </mc:Choice>
              <mc:Fallback>
                <p:oleObj name="AxMath" r:id="rId4" imgW="765360" imgH="374400" progId="Equation.AxMath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56FA3C28-F022-45E6-11CC-46BD1A9372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186086" y="682436"/>
                        <a:ext cx="1377950" cy="676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8FF1AF06-0E01-BF63-62A6-FE66140FB0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8385012"/>
              </p:ext>
            </p:extLst>
          </p:nvPr>
        </p:nvGraphicFramePr>
        <p:xfrm>
          <a:off x="8186086" y="1346466"/>
          <a:ext cx="1096962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6" imgW="609120" imgH="374400" progId="Equation.AxMath">
                  <p:embed/>
                </p:oleObj>
              </mc:Choice>
              <mc:Fallback>
                <p:oleObj name="AxMath" r:id="rId6" imgW="609120" imgH="374400" progId="Equation.AxMath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CE018684-C250-00D7-4B72-C4F62B26AC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186086" y="1346466"/>
                        <a:ext cx="1096962" cy="676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1C27C05-26C5-1EC8-71A3-E7CEDED05B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0121312"/>
              </p:ext>
            </p:extLst>
          </p:nvPr>
        </p:nvGraphicFramePr>
        <p:xfrm>
          <a:off x="2168308" y="1002147"/>
          <a:ext cx="2168525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8" imgW="1202760" imgH="191520" progId="Equation.AxMath">
                  <p:embed/>
                </p:oleObj>
              </mc:Choice>
              <mc:Fallback>
                <p:oleObj name="AxMath" r:id="rId8" imgW="1202760" imgH="191520" progId="Equation.AxMath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56FA3C28-F022-45E6-11CC-46BD1A9372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168308" y="1002147"/>
                        <a:ext cx="2168525" cy="3476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69E0B4F1-9F09-7804-0877-548650D1B7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1921051"/>
              </p:ext>
            </p:extLst>
          </p:nvPr>
        </p:nvGraphicFramePr>
        <p:xfrm>
          <a:off x="5718176" y="801933"/>
          <a:ext cx="1825625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0" imgW="1014120" imgH="192600" progId="Equation.AxMath">
                  <p:embed/>
                </p:oleObj>
              </mc:Choice>
              <mc:Fallback>
                <p:oleObj name="AxMath" r:id="rId10" imgW="1014120" imgH="192600" progId="Equation.AxMath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8FF1AF06-0E01-BF63-62A6-FE66140FB0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718176" y="801933"/>
                        <a:ext cx="1825625" cy="346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BB8D44C4-19AE-6633-1AC3-30395E4067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8737907"/>
              </p:ext>
            </p:extLst>
          </p:nvPr>
        </p:nvGraphicFramePr>
        <p:xfrm>
          <a:off x="553509" y="1874430"/>
          <a:ext cx="3700463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2" imgW="2054880" imgH="374760" progId="Equation.AxMath">
                  <p:embed/>
                </p:oleObj>
              </mc:Choice>
              <mc:Fallback>
                <p:oleObj name="AxMath" r:id="rId12" imgW="2054880" imgH="374760" progId="Equation.AxMath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CE018684-C250-00D7-4B72-C4F62B26AC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53509" y="1874430"/>
                        <a:ext cx="3700463" cy="677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7FF20BCF-7E4A-1F91-E9EF-BA63F592220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869097"/>
              </p:ext>
            </p:extLst>
          </p:nvPr>
        </p:nvGraphicFramePr>
        <p:xfrm>
          <a:off x="5718176" y="2317080"/>
          <a:ext cx="1476375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4" imgW="819720" imgH="377280" progId="Equation.AxMath">
                  <p:embed/>
                </p:oleObj>
              </mc:Choice>
              <mc:Fallback>
                <p:oleObj name="AxMath" r:id="rId14" imgW="819720" imgH="377280" progId="Equation.AxMath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BB8D44C4-19AE-6633-1AC3-30395E4067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718176" y="2317080"/>
                        <a:ext cx="1476375" cy="684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87A330A5-D9F7-6DA6-07C0-A00588D17E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1414458"/>
              </p:ext>
            </p:extLst>
          </p:nvPr>
        </p:nvGraphicFramePr>
        <p:xfrm>
          <a:off x="527050" y="2822575"/>
          <a:ext cx="3762375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6" imgW="2088720" imgH="374760" progId="Equation.AxMath">
                  <p:embed/>
                </p:oleObj>
              </mc:Choice>
              <mc:Fallback>
                <p:oleObj name="AxMath" r:id="rId16" imgW="2088720" imgH="374760" progId="Equation.AxMath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BB8D44C4-19AE-6633-1AC3-30395E4067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27050" y="2822575"/>
                        <a:ext cx="3762375" cy="6778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264AB577-684B-94DC-86E0-E3F683E68AD2}"/>
              </a:ext>
            </a:extLst>
          </p:cNvPr>
          <p:cNvCxnSpPr>
            <a:cxnSpLocks/>
          </p:cNvCxnSpPr>
          <p:nvPr/>
        </p:nvCxnSpPr>
        <p:spPr>
          <a:xfrm>
            <a:off x="2403740" y="2480733"/>
            <a:ext cx="0" cy="3418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C315F9B8-290F-6451-3B87-EFFA51D8509D}"/>
              </a:ext>
            </a:extLst>
          </p:cNvPr>
          <p:cNvSpPr txBox="1"/>
          <p:nvPr/>
        </p:nvSpPr>
        <p:spPr>
          <a:xfrm>
            <a:off x="4667934" y="108753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其中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CE5DCD6-478B-B155-6EE8-4D740FBE4F3A}"/>
              </a:ext>
            </a:extLst>
          </p:cNvPr>
          <p:cNvSpPr txBox="1"/>
          <p:nvPr/>
        </p:nvSpPr>
        <p:spPr>
          <a:xfrm>
            <a:off x="4698361" y="246309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其中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49A9F54-0D29-D02F-2DBD-028767711144}"/>
              </a:ext>
            </a:extLst>
          </p:cNvPr>
          <p:cNvSpPr txBox="1"/>
          <p:nvPr/>
        </p:nvSpPr>
        <p:spPr>
          <a:xfrm>
            <a:off x="446644" y="3655727"/>
            <a:ext cx="1826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求解</a:t>
            </a:r>
            <a:r>
              <a:rPr lang="en-US" altLang="zh-CN" dirty="0" err="1"/>
              <a:t>Riccati</a:t>
            </a:r>
            <a:r>
              <a:rPr lang="zh-CN" altLang="en-US" dirty="0"/>
              <a:t>方程</a:t>
            </a:r>
          </a:p>
        </p:txBody>
      </p: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454FA641-A811-A573-2818-18C70527B5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0903471"/>
              </p:ext>
            </p:extLst>
          </p:nvPr>
        </p:nvGraphicFramePr>
        <p:xfrm>
          <a:off x="527050" y="4391241"/>
          <a:ext cx="1831975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8" imgW="1017720" imgH="192600" progId="Equation.AxMath">
                  <p:embed/>
                </p:oleObj>
              </mc:Choice>
              <mc:Fallback>
                <p:oleObj name="AxMath" r:id="rId18" imgW="1017720" imgH="192600" progId="Equation.AxMath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87A330A5-D9F7-6DA6-07C0-A00588D17E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27050" y="4391241"/>
                        <a:ext cx="1831975" cy="347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17A6D612-79A3-3A5B-776A-7F85664714F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8691511"/>
              </p:ext>
            </p:extLst>
          </p:nvPr>
        </p:nvGraphicFramePr>
        <p:xfrm>
          <a:off x="2998042" y="4224553"/>
          <a:ext cx="1206500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20" imgW="669600" imgH="376920" progId="Equation.AxMath">
                  <p:embed/>
                </p:oleObj>
              </mc:Choice>
              <mc:Fallback>
                <p:oleObj name="AxMath" r:id="rId20" imgW="669600" imgH="376920" progId="Equation.AxMath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454FA641-A811-A573-2818-18C70527B5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998042" y="4224553"/>
                        <a:ext cx="1206500" cy="681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D4A02357-0136-BCFB-747F-41E21B49EE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0901204"/>
              </p:ext>
            </p:extLst>
          </p:nvPr>
        </p:nvGraphicFramePr>
        <p:xfrm>
          <a:off x="4991100" y="4221163"/>
          <a:ext cx="123348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22" imgW="683280" imgH="378360" progId="Equation.AxMath">
                  <p:embed/>
                </p:oleObj>
              </mc:Choice>
              <mc:Fallback>
                <p:oleObj name="AxMath" r:id="rId22" imgW="683280" imgH="378360" progId="Equation.AxMath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17A6D612-79A3-3A5B-776A-7F85664714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991100" y="4221163"/>
                        <a:ext cx="1233488" cy="685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4B51AB83-529D-ADD3-6728-A20A2C617A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272819"/>
              </p:ext>
            </p:extLst>
          </p:nvPr>
        </p:nvGraphicFramePr>
        <p:xfrm>
          <a:off x="7027021" y="4195763"/>
          <a:ext cx="2166937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24" imgW="1198800" imgH="407160" progId="Equation.AxMath">
                  <p:embed/>
                </p:oleObj>
              </mc:Choice>
              <mc:Fallback>
                <p:oleObj name="AxMath" r:id="rId24" imgW="1198800" imgH="407160" progId="Equation.AxMath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D4A02357-0136-BCFB-747F-41E21B49EE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7027021" y="4195763"/>
                        <a:ext cx="2166937" cy="736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文本框 28">
            <a:extLst>
              <a:ext uri="{FF2B5EF4-FFF2-40B4-BE49-F238E27FC236}">
                <a16:creationId xmlns:a16="http://schemas.microsoft.com/office/drawing/2014/main" id="{62FBC7B4-EBBC-C97C-8F21-8063540C2650}"/>
              </a:ext>
            </a:extLst>
          </p:cNvPr>
          <p:cNvSpPr txBox="1"/>
          <p:nvPr/>
        </p:nvSpPr>
        <p:spPr>
          <a:xfrm>
            <a:off x="446644" y="5087107"/>
            <a:ext cx="4408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将期望加速度标量 分配到相对位置向量上</a:t>
            </a:r>
          </a:p>
        </p:txBody>
      </p:sp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ADFCB8F2-1F5C-4CD6-F952-0E991D7F39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6497597"/>
              </p:ext>
            </p:extLst>
          </p:nvPr>
        </p:nvGraphicFramePr>
        <p:xfrm>
          <a:off x="553509" y="5954735"/>
          <a:ext cx="6864351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26" imgW="3718080" imgH="333360" progId="Equation.AxMath">
                  <p:embed/>
                </p:oleObj>
              </mc:Choice>
              <mc:Fallback>
                <p:oleObj name="AxMath" r:id="rId26" imgW="3718080" imgH="333360" progId="Equation.AxMath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98929B95-F525-744C-1E48-3A5A872038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553509" y="5954735"/>
                        <a:ext cx="6864351" cy="617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23C592C-F079-51D3-6452-6F7F4DC105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6966178"/>
              </p:ext>
            </p:extLst>
          </p:nvPr>
        </p:nvGraphicFramePr>
        <p:xfrm>
          <a:off x="5718176" y="1479013"/>
          <a:ext cx="1917700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28" imgW="1064880" imgH="200160" progId="Equation.AxMath">
                  <p:embed/>
                </p:oleObj>
              </mc:Choice>
              <mc:Fallback>
                <p:oleObj name="AxMath" r:id="rId28" imgW="1064880" imgH="200160" progId="Equation.AxMath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69E0B4F1-9F09-7804-0877-548650D1B7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5718176" y="1479013"/>
                        <a:ext cx="1917700" cy="360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92928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5DF04-444F-86F8-AFC0-0DBA8B16B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FCB1B6B-C3D9-6528-5C9C-805C585EE899}"/>
              </a:ext>
            </a:extLst>
          </p:cNvPr>
          <p:cNvSpPr txBox="1"/>
          <p:nvPr/>
        </p:nvSpPr>
        <p:spPr>
          <a:xfrm>
            <a:off x="446644" y="192699"/>
            <a:ext cx="2437911" cy="46166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zh-CN" sz="2400" b="1" spc="100" dirty="0">
                <a:solidFill>
                  <a:schemeClr val="accent1"/>
                </a:solidFill>
                <a:latin typeface="+mj-ea"/>
                <a:ea typeface="+mj-ea"/>
              </a:rPr>
              <a:t>1 LQR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  <a:ea typeface="+mj-ea"/>
              </a:rPr>
              <a:t>最优控制</a:t>
            </a:r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4C7D4969-FF47-6097-9B38-68DEA64323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7081" y="3494537"/>
            <a:ext cx="3198574" cy="238913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EA2657E-BAAF-CD52-1D08-C190C81E954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304" y="3494537"/>
            <a:ext cx="3293896" cy="26289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C3BE0EC-D8A1-689B-5381-4201D6A8F48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7081" y="740085"/>
            <a:ext cx="3085896" cy="230497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B9CCD6C-EBE0-09CC-B50F-BFA50E237EC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3500" y="740085"/>
            <a:ext cx="3363305" cy="251111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1B18EAF-B3AA-76B1-6921-19954BC858B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44" y="813711"/>
            <a:ext cx="3054067" cy="243749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AB1A21C-43BC-4F21-9E65-62AEBF1C3C7F}"/>
              </a:ext>
            </a:extLst>
          </p:cNvPr>
          <p:cNvSpPr txBox="1"/>
          <p:nvPr/>
        </p:nvSpPr>
        <p:spPr>
          <a:xfrm>
            <a:off x="9060526" y="5972143"/>
            <a:ext cx="11079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Without LQR</a:t>
            </a:r>
            <a:endParaRPr lang="zh-CN" altLang="en-US" sz="11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813454B-F8FE-E44F-1930-73073E6C873A}"/>
              </a:ext>
            </a:extLst>
          </p:cNvPr>
          <p:cNvSpPr txBox="1"/>
          <p:nvPr/>
        </p:nvSpPr>
        <p:spPr>
          <a:xfrm>
            <a:off x="9143631" y="3057886"/>
            <a:ext cx="11079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/>
              <a:t>With LQR</a:t>
            </a:r>
            <a:endParaRPr lang="zh-CN" altLang="en-US" sz="110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750D34F9-8907-D5C4-466F-0E81EEB04E2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26" y="3343242"/>
            <a:ext cx="2628901" cy="2628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893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8F227-D3A8-EF8A-6CB2-C68C771E6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0E92258-8849-E009-419E-154D2939C835}"/>
              </a:ext>
            </a:extLst>
          </p:cNvPr>
          <p:cNvSpPr txBox="1"/>
          <p:nvPr/>
        </p:nvSpPr>
        <p:spPr>
          <a:xfrm>
            <a:off x="446644" y="192699"/>
            <a:ext cx="1773242" cy="46166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zh-CN" sz="2400" b="1" spc="100" dirty="0">
                <a:solidFill>
                  <a:schemeClr val="accent1"/>
                </a:solidFill>
                <a:latin typeface="+mj-ea"/>
                <a:ea typeface="+mj-ea"/>
              </a:rPr>
              <a:t>2 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  <a:ea typeface="+mj-ea"/>
              </a:rPr>
              <a:t>算法探究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98929B95-F525-744C-1E48-3A5A872038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8676454"/>
              </p:ext>
            </p:extLst>
          </p:nvPr>
        </p:nvGraphicFramePr>
        <p:xfrm>
          <a:off x="530487" y="2068064"/>
          <a:ext cx="3232150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2" imgW="1751400" imgH="200160" progId="Equation.AxMath">
                  <p:embed/>
                </p:oleObj>
              </mc:Choice>
              <mc:Fallback>
                <p:oleObj name="AxMath" r:id="rId2" imgW="1751400" imgH="200160" progId="Equation.AxMath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98929B95-F525-744C-1E48-3A5A872038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30487" y="2068064"/>
                        <a:ext cx="3232150" cy="369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44D310C8-3ADE-14DA-FF3E-3E7593229217}"/>
              </a:ext>
            </a:extLst>
          </p:cNvPr>
          <p:cNvSpPr txBox="1"/>
          <p:nvPr/>
        </p:nvSpPr>
        <p:spPr>
          <a:xfrm>
            <a:off x="446643" y="804084"/>
            <a:ext cx="471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单边距离控制 使用角平分线做矢量分配</a:t>
            </a:r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675E7F39-D25E-F569-F04F-B79AF008A88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5367734"/>
              </p:ext>
            </p:extLst>
          </p:nvPr>
        </p:nvGraphicFramePr>
        <p:xfrm>
          <a:off x="530487" y="1514661"/>
          <a:ext cx="4633912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4" imgW="2570760" imgH="204840" progId="Equation.AxMath">
                  <p:embed/>
                </p:oleObj>
              </mc:Choice>
              <mc:Fallback>
                <p:oleObj name="AxMath" r:id="rId4" imgW="2570760" imgH="204840" progId="Equation.AxMath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675E7F39-D25E-F569-F04F-B79AF008A8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30487" y="1514661"/>
                        <a:ext cx="4633912" cy="36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34B7D301-8FB8-196B-CF4D-CBA98D230E4F}"/>
              </a:ext>
            </a:extLst>
          </p:cNvPr>
          <p:cNvSpPr txBox="1"/>
          <p:nvPr/>
        </p:nvSpPr>
        <p:spPr>
          <a:xfrm>
            <a:off x="5839910" y="804084"/>
            <a:ext cx="471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若存在初始误差，最终稳态误差无法消除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86F4B89-DCF9-0DAA-DACD-069F050000E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7533" y="3299751"/>
            <a:ext cx="3958988" cy="295711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3B321D7-1A3D-EBC4-8A07-8270D5A63FC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408" y="3299751"/>
            <a:ext cx="4004148" cy="2957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068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D9F35-A42A-4615-6C38-ABA350926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A435AEF-F2D8-6D15-D2CD-3EB868B8B9FD}"/>
              </a:ext>
            </a:extLst>
          </p:cNvPr>
          <p:cNvSpPr txBox="1"/>
          <p:nvPr/>
        </p:nvSpPr>
        <p:spPr>
          <a:xfrm>
            <a:off x="446644" y="192699"/>
            <a:ext cx="1132041" cy="46166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en-US" altLang="zh-CN" sz="2400" b="1" spc="100" dirty="0">
                <a:solidFill>
                  <a:schemeClr val="accent1"/>
                </a:solidFill>
                <a:latin typeface="+mj-ea"/>
                <a:ea typeface="+mj-ea"/>
              </a:rPr>
              <a:t>3 </a:t>
            </a:r>
            <a:r>
              <a:rPr lang="zh-CN" altLang="en-US" sz="2400" b="1" spc="100" dirty="0">
                <a:solidFill>
                  <a:schemeClr val="accent1"/>
                </a:solidFill>
                <a:latin typeface="+mj-ea"/>
                <a:ea typeface="+mj-ea"/>
              </a:rPr>
              <a:t>总结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02A4F1D-FF51-E78C-09F0-63BF05EC1428}"/>
              </a:ext>
            </a:extLst>
          </p:cNvPr>
          <p:cNvSpPr txBox="1"/>
          <p:nvPr/>
        </p:nvSpPr>
        <p:spPr>
          <a:xfrm>
            <a:off x="446643" y="804084"/>
            <a:ext cx="107608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当前编队控制，每一个</a:t>
            </a:r>
            <a:r>
              <a:rPr lang="en-US" altLang="zh-CN" dirty="0"/>
              <a:t>agent</a:t>
            </a:r>
            <a:r>
              <a:rPr lang="zh-CN" altLang="en-US" dirty="0"/>
              <a:t>需要两个相邻距离信息，以及相邻</a:t>
            </a:r>
            <a:r>
              <a:rPr lang="en-US" altLang="zh-CN" dirty="0"/>
              <a:t>agent</a:t>
            </a:r>
            <a:r>
              <a:rPr lang="zh-CN" altLang="en-US" dirty="0"/>
              <a:t>的相对位置，以此来获取角度信息。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689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random/>
      </p:transition>
    </mc:Choice>
    <mc:Fallback xmlns="">
      <p:transition spd="slow" advTm="2000">
        <p:random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GE3Y2I3OTRlNTA1NjUwZGY1NGI3NTM4NWZhMGI4N2IifQ=="/>
</p:tagLst>
</file>

<file path=ppt/theme/theme1.xml><?xml version="1.0" encoding="utf-8"?>
<a:theme xmlns:a="http://schemas.openxmlformats.org/drawingml/2006/main" name="Office 主题​​">
  <a:themeElements>
    <a:clrScheme name="1-灰蓝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497B"/>
      </a:accent1>
      <a:accent2>
        <a:srgbClr val="D9D9D9"/>
      </a:accent2>
      <a:accent3>
        <a:srgbClr val="F2F2F2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1630</TotalTime>
  <Words>86</Words>
  <Application>Microsoft Office PowerPoint</Application>
  <PresentationFormat>宽屏</PresentationFormat>
  <Paragraphs>17</Paragraphs>
  <Slides>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等线</vt:lpstr>
      <vt:lpstr>微软雅黑</vt:lpstr>
      <vt:lpstr>Arial</vt:lpstr>
      <vt:lpstr>Office 主题​​</vt:lpstr>
      <vt:lpstr>AxMath</vt:lpstr>
      <vt:lpstr>Equation.AxMath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香 草</dc:creator>
  <cp:lastModifiedBy>铮扬 朱</cp:lastModifiedBy>
  <cp:revision>717</cp:revision>
  <dcterms:created xsi:type="dcterms:W3CDTF">2024-12-30T12:20:00Z</dcterms:created>
  <dcterms:modified xsi:type="dcterms:W3CDTF">2025-12-11T09:01:03Z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0CB2F8EEEECD470B9D8DE2D345962899_12</vt:lpwstr>
  </property>
  <property fmtid="{D5CDD505-2E9C-101B-9397-08002B2CF9AE}" pid="3" name="KSOProductBuildVer">
    <vt:lpwstr>2052-12.1.0.16120</vt:lpwstr>
  </property>
</Properties>
</file>