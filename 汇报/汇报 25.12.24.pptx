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312" r:id="rId2"/>
    <p:sldId id="331" r:id="rId3"/>
    <p:sldId id="332" r:id="rId4"/>
    <p:sldId id="333" r:id="rId5"/>
    <p:sldId id="334" r:id="rId6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94" userDrawn="1">
          <p15:clr>
            <a:srgbClr val="A4A3A4"/>
          </p15:clr>
        </p15:guide>
        <p15:guide id="4" pos="7129" userDrawn="1">
          <p15:clr>
            <a:srgbClr val="A4A3A4"/>
          </p15:clr>
        </p15:guide>
        <p15:guide id="5" orient="horz" pos="459" userDrawn="1">
          <p15:clr>
            <a:srgbClr val="A4A3A4"/>
          </p15:clr>
        </p15:guide>
        <p15:guide id="6" orient="horz" pos="3861" userDrawn="1">
          <p15:clr>
            <a:srgbClr val="A4A3A4"/>
          </p15:clr>
        </p15:guide>
        <p15:guide id="7" pos="347" userDrawn="1">
          <p15:clr>
            <a:srgbClr val="A4A3A4"/>
          </p15:clr>
        </p15:guide>
        <p15:guide id="8" pos="73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3265" autoAdjust="0"/>
  </p:normalViewPr>
  <p:slideViewPr>
    <p:cSldViewPr snapToGrid="0" showGuides="1">
      <p:cViewPr varScale="1">
        <p:scale>
          <a:sx n="157" d="100"/>
          <a:sy n="157" d="100"/>
        </p:scale>
        <p:origin x="100" y="260"/>
      </p:cViewPr>
      <p:guideLst>
        <p:guide orient="horz" pos="2170"/>
        <p:guide pos="3840"/>
        <p:guide pos="594"/>
        <p:guide pos="7129"/>
        <p:guide orient="horz" pos="459"/>
        <p:guide orient="horz" pos="3861"/>
        <p:guide pos="347"/>
        <p:guide pos="73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63A5E-7876-4EE8-8911-34AC3DFAAD6A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78E1EA-5B9D-47B4-B3BE-1788425ED1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550863" y="625654"/>
            <a:ext cx="1109027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550863" y="625654"/>
            <a:ext cx="1109027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7EF37B-83A2-4D9B-A938-F8A337ADEAFF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wmf"/><Relationship Id="rId18" Type="http://schemas.openxmlformats.org/officeDocument/2006/relationships/oleObject" Target="../embeddings/oleObject9.bin"/><Relationship Id="rId3" Type="http://schemas.openxmlformats.org/officeDocument/2006/relationships/image" Target="../media/image1.wmf"/><Relationship Id="rId21" Type="http://schemas.openxmlformats.org/officeDocument/2006/relationships/image" Target="../media/image10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8.wmf"/><Relationship Id="rId25" Type="http://schemas.openxmlformats.org/officeDocument/2006/relationships/image" Target="../media/image12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24" Type="http://schemas.openxmlformats.org/officeDocument/2006/relationships/oleObject" Target="../embeddings/oleObject12.bin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23" Type="http://schemas.openxmlformats.org/officeDocument/2006/relationships/image" Target="../media/image11.w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18.wmf"/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12" Type="http://schemas.openxmlformats.org/officeDocument/2006/relationships/oleObject" Target="../embeddings/oleObject18.bin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17.wmf"/><Relationship Id="rId5" Type="http://schemas.openxmlformats.org/officeDocument/2006/relationships/image" Target="../media/image14.wmf"/><Relationship Id="rId15" Type="http://schemas.openxmlformats.org/officeDocument/2006/relationships/image" Target="../media/image19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6.wmf"/><Relationship Id="rId14" Type="http://schemas.openxmlformats.org/officeDocument/2006/relationships/oleObject" Target="../embeddings/oleObject19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image" Target="../media/image20.wmf"/><Relationship Id="rId7" Type="http://schemas.openxmlformats.org/officeDocument/2006/relationships/oleObject" Target="../embeddings/oleObject22.bin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017788"/>
            <a:ext cx="12192000" cy="2493433"/>
          </a:xfrm>
          <a:prstGeom prst="rect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5" name="组合 84"/>
          <p:cNvGrpSpPr/>
          <p:nvPr/>
        </p:nvGrpSpPr>
        <p:grpSpPr>
          <a:xfrm flipH="1" flipV="1">
            <a:off x="11249025" y="6335607"/>
            <a:ext cx="596597" cy="262959"/>
            <a:chOff x="352728" y="249931"/>
            <a:chExt cx="723900" cy="319070"/>
          </a:xfrm>
        </p:grpSpPr>
        <p:sp>
          <p:nvSpPr>
            <p:cNvPr id="86" name="矩形: 圆角 85"/>
            <p:cNvSpPr/>
            <p:nvPr/>
          </p:nvSpPr>
          <p:spPr>
            <a:xfrm>
              <a:off x="352728" y="249931"/>
              <a:ext cx="72390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矩形: 圆角 86"/>
            <p:cNvSpPr/>
            <p:nvPr/>
          </p:nvSpPr>
          <p:spPr>
            <a:xfrm>
              <a:off x="352728" y="372506"/>
              <a:ext cx="52516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矩形: 圆角 87"/>
            <p:cNvSpPr/>
            <p:nvPr/>
          </p:nvSpPr>
          <p:spPr>
            <a:xfrm>
              <a:off x="352728" y="495081"/>
              <a:ext cx="35371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6" name="文本框 105"/>
          <p:cNvSpPr txBox="1"/>
          <p:nvPr/>
        </p:nvSpPr>
        <p:spPr>
          <a:xfrm>
            <a:off x="4233952" y="2675023"/>
            <a:ext cx="37240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b="1" spc="200" dirty="0">
                <a:solidFill>
                  <a:schemeClr val="bg1"/>
                </a:solidFill>
                <a:latin typeface="+mj-ea"/>
                <a:ea typeface="+mj-ea"/>
              </a:rPr>
              <a:t>学习进展汇报</a:t>
            </a:r>
          </a:p>
        </p:txBody>
      </p:sp>
      <p:sp>
        <p:nvSpPr>
          <p:cNvPr id="99" name="文本框 98"/>
          <p:cNvSpPr txBox="1"/>
          <p:nvPr/>
        </p:nvSpPr>
        <p:spPr>
          <a:xfrm>
            <a:off x="2999383" y="5157245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汇报人：朱铮扬</a:t>
            </a:r>
          </a:p>
        </p:txBody>
      </p:sp>
      <p:sp>
        <p:nvSpPr>
          <p:cNvPr id="104" name="文本框 103"/>
          <p:cNvSpPr txBox="1"/>
          <p:nvPr/>
        </p:nvSpPr>
        <p:spPr>
          <a:xfrm>
            <a:off x="6916368" y="5157245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汇报日期：</a:t>
            </a:r>
            <a:r>
              <a:rPr lang="en-US" altLang="zh-CN" dirty="0">
                <a:latin typeface="+mn-ea"/>
              </a:rPr>
              <a:t>2025.12.24</a:t>
            </a:r>
            <a:endParaRPr lang="zh-CN" altLang="en-US" dirty="0"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5DF04-444F-86F8-AFC0-0DBA8B16B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FCB1B6B-C3D9-6528-5C9C-805C585EE899}"/>
              </a:ext>
            </a:extLst>
          </p:cNvPr>
          <p:cNvSpPr txBox="1"/>
          <p:nvPr/>
        </p:nvSpPr>
        <p:spPr>
          <a:xfrm>
            <a:off x="446644" y="192699"/>
            <a:ext cx="2414444" cy="46166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zh-CN" sz="2400" b="1" spc="100" dirty="0">
                <a:solidFill>
                  <a:schemeClr val="accent1"/>
                </a:solidFill>
                <a:latin typeface="+mj-ea"/>
                <a:ea typeface="+mj-ea"/>
              </a:rPr>
              <a:t>1 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</a:rPr>
              <a:t>状态向量定义</a:t>
            </a:r>
            <a:endParaRPr lang="zh-CN" altLang="en-US" sz="2400" b="1" spc="1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4FD63822-A1B0-3155-D687-4227D3893B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5596532"/>
              </p:ext>
            </p:extLst>
          </p:nvPr>
        </p:nvGraphicFramePr>
        <p:xfrm>
          <a:off x="446644" y="1040688"/>
          <a:ext cx="1192212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" imgW="663840" imgH="191160" progId="Equation.AxMath">
                  <p:embed/>
                </p:oleObj>
              </mc:Choice>
              <mc:Fallback>
                <p:oleObj name="AxMath" r:id="rId2" imgW="663840" imgH="191160" progId="Equation.AxMath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A266F5A9-DF28-A1DD-D17A-E76380B87B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46644" y="1040688"/>
                        <a:ext cx="1192212" cy="341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5A4FF336-2540-5DD8-7223-D8DDC83574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0128481"/>
              </p:ext>
            </p:extLst>
          </p:nvPr>
        </p:nvGraphicFramePr>
        <p:xfrm>
          <a:off x="2230994" y="1040688"/>
          <a:ext cx="1209675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4" imgW="674640" imgH="191160" progId="Equation.AxMath">
                  <p:embed/>
                </p:oleObj>
              </mc:Choice>
              <mc:Fallback>
                <p:oleObj name="AxMath" r:id="rId4" imgW="674640" imgH="191160" progId="Equation.AxMath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4FD63822-A1B0-3155-D687-4227D3893B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30994" y="1040688"/>
                        <a:ext cx="1209675" cy="341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331A887F-A84A-139D-6A80-2F9C496225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9096486"/>
              </p:ext>
            </p:extLst>
          </p:nvPr>
        </p:nvGraphicFramePr>
        <p:xfrm>
          <a:off x="4483656" y="1037512"/>
          <a:ext cx="792163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6" imgW="441720" imgH="191520" progId="Equation.AxMath">
                  <p:embed/>
                </p:oleObj>
              </mc:Choice>
              <mc:Fallback>
                <p:oleObj name="AxMath" r:id="rId6" imgW="441720" imgH="191520" progId="Equation.AxMath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5A4FF336-2540-5DD8-7223-D8DDC83574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483656" y="1037512"/>
                        <a:ext cx="792163" cy="344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C69942AA-4FAB-17B0-114B-6998E01A79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8438251"/>
              </p:ext>
            </p:extLst>
          </p:nvPr>
        </p:nvGraphicFramePr>
        <p:xfrm>
          <a:off x="6082825" y="1037512"/>
          <a:ext cx="1247775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8" imgW="695160" imgH="191520" progId="Equation.AxMath">
                  <p:embed/>
                </p:oleObj>
              </mc:Choice>
              <mc:Fallback>
                <p:oleObj name="AxMath" r:id="rId8" imgW="695160" imgH="191520" progId="Equation.AxMath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331A887F-A84A-139D-6A80-2F9C496225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082825" y="1037512"/>
                        <a:ext cx="1247775" cy="344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F656E56F-2927-891F-0630-A8FF583B8F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2726713"/>
              </p:ext>
            </p:extLst>
          </p:nvPr>
        </p:nvGraphicFramePr>
        <p:xfrm>
          <a:off x="527050" y="2197100"/>
          <a:ext cx="145415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0" imgW="806760" imgH="207360" progId="Equation.AxMath">
                  <p:embed/>
                </p:oleObj>
              </mc:Choice>
              <mc:Fallback>
                <p:oleObj name="AxMath" r:id="rId10" imgW="806760" imgH="207360" progId="Equation.AxMath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4FD63822-A1B0-3155-D687-4227D3893B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27050" y="2197100"/>
                        <a:ext cx="1454150" cy="369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D15BB54F-0EE7-27A9-1903-C48E0A2369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9288414"/>
              </p:ext>
            </p:extLst>
          </p:nvPr>
        </p:nvGraphicFramePr>
        <p:xfrm>
          <a:off x="3569813" y="1966567"/>
          <a:ext cx="3260725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2" imgW="1811160" imgH="734760" progId="Equation.AxMath">
                  <p:embed/>
                </p:oleObj>
              </mc:Choice>
              <mc:Fallback>
                <p:oleObj name="AxMath" r:id="rId12" imgW="1811160" imgH="734760" progId="Equation.AxMath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F656E56F-2927-891F-0630-A8FF583B8F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569813" y="1966567"/>
                        <a:ext cx="3260725" cy="1308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55A40212-07CA-7D2A-EF60-C1764B81D1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4545922"/>
              </p:ext>
            </p:extLst>
          </p:nvPr>
        </p:nvGraphicFramePr>
        <p:xfrm>
          <a:off x="506413" y="2665413"/>
          <a:ext cx="1498600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4" imgW="831240" imgH="207360" progId="Equation.AxMath">
                  <p:embed/>
                </p:oleObj>
              </mc:Choice>
              <mc:Fallback>
                <p:oleObj name="AxMath" r:id="rId14" imgW="831240" imgH="207360" progId="Equation.AxMath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F656E56F-2927-891F-0630-A8FF583B8F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06413" y="2665413"/>
                        <a:ext cx="1498600" cy="369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DD7BF1BA-877C-7070-A8FD-50D67185F63B}"/>
              </a:ext>
            </a:extLst>
          </p:cNvPr>
          <p:cNvSpPr txBox="1"/>
          <p:nvPr/>
        </p:nvSpPr>
        <p:spPr>
          <a:xfrm>
            <a:off x="2494546" y="2435951"/>
            <a:ext cx="1075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例如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9FC41FC8-0C6F-5879-85B4-EFBEDFB637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227424"/>
              </p:ext>
            </p:extLst>
          </p:nvPr>
        </p:nvGraphicFramePr>
        <p:xfrm>
          <a:off x="446644" y="4318077"/>
          <a:ext cx="541337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6" imgW="302040" imgH="197280" progId="Equation.AxMath">
                  <p:embed/>
                </p:oleObj>
              </mc:Choice>
              <mc:Fallback>
                <p:oleObj name="AxMath" r:id="rId16" imgW="302040" imgH="197280" progId="Equation.AxMath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9FC41FC8-0C6F-5879-85B4-EFBEDFB637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46644" y="4318077"/>
                        <a:ext cx="541337" cy="352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189C8E00-4F55-07B2-F899-78906A54EAD8}"/>
              </a:ext>
            </a:extLst>
          </p:cNvPr>
          <p:cNvSpPr txBox="1"/>
          <p:nvPr/>
        </p:nvSpPr>
        <p:spPr>
          <a:xfrm>
            <a:off x="1080604" y="4299520"/>
            <a:ext cx="3142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需要符合角度和距离约束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45869DA-8983-14B9-5963-03D7F589D2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4183139"/>
              </p:ext>
            </p:extLst>
          </p:nvPr>
        </p:nvGraphicFramePr>
        <p:xfrm>
          <a:off x="5458910" y="3849542"/>
          <a:ext cx="1719263" cy="136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8" imgW="957240" imgH="759240" progId="Equation.AxMath">
                  <p:embed/>
                </p:oleObj>
              </mc:Choice>
              <mc:Fallback>
                <p:oleObj name="AxMath" r:id="rId18" imgW="957240" imgH="759240" progId="Equation.AxMath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245869DA-8983-14B9-5963-03D7F589D2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458910" y="3849542"/>
                        <a:ext cx="1719263" cy="1362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E3BA4108-70E8-720E-5344-671749DC6875}"/>
              </a:ext>
            </a:extLst>
          </p:cNvPr>
          <p:cNvSpPr/>
          <p:nvPr/>
        </p:nvSpPr>
        <p:spPr>
          <a:xfrm>
            <a:off x="8105610" y="3849543"/>
            <a:ext cx="254000" cy="2749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0F05916-78F1-F16C-CA4F-721C490DFF94}"/>
              </a:ext>
            </a:extLst>
          </p:cNvPr>
          <p:cNvSpPr/>
          <p:nvPr/>
        </p:nvSpPr>
        <p:spPr>
          <a:xfrm>
            <a:off x="9155477" y="3849542"/>
            <a:ext cx="254000" cy="2749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2A4ADDF-7389-9025-657E-0DC87A9076CD}"/>
              </a:ext>
            </a:extLst>
          </p:cNvPr>
          <p:cNvSpPr/>
          <p:nvPr/>
        </p:nvSpPr>
        <p:spPr>
          <a:xfrm>
            <a:off x="9155477" y="4843928"/>
            <a:ext cx="254000" cy="2749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7ECC97D-8F95-36E1-39AD-1EAB6F1A7705}"/>
              </a:ext>
            </a:extLst>
          </p:cNvPr>
          <p:cNvSpPr/>
          <p:nvPr/>
        </p:nvSpPr>
        <p:spPr>
          <a:xfrm>
            <a:off x="8105610" y="4843928"/>
            <a:ext cx="254000" cy="2749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2101501B-DFDD-A786-0F9F-86AE2677BF16}"/>
              </a:ext>
            </a:extLst>
          </p:cNvPr>
          <p:cNvCxnSpPr>
            <a:cxnSpLocks/>
            <a:stCxn id="16" idx="0"/>
            <a:endCxn id="13" idx="2"/>
          </p:cNvCxnSpPr>
          <p:nvPr/>
        </p:nvCxnSpPr>
        <p:spPr>
          <a:xfrm flipV="1">
            <a:off x="8232610" y="4124446"/>
            <a:ext cx="0" cy="719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2EEF1A5D-41E0-CFD6-6A11-A5B6D4329FFA}"/>
              </a:ext>
            </a:extLst>
          </p:cNvPr>
          <p:cNvCxnSpPr>
            <a:cxnSpLocks/>
            <a:stCxn id="15" idx="1"/>
            <a:endCxn id="16" idx="3"/>
          </p:cNvCxnSpPr>
          <p:nvPr/>
        </p:nvCxnSpPr>
        <p:spPr>
          <a:xfrm flipH="1">
            <a:off x="8359610" y="4981380"/>
            <a:ext cx="7958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B4D15E2E-7428-BFCD-EDF5-89F3E98A81D8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8359610" y="3986993"/>
            <a:ext cx="795867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8762BD59-1E2B-7EEC-42B6-17C4163F3CF8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9282477" y="4124445"/>
            <a:ext cx="0" cy="7194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602BC380-85B2-33A4-BDF2-ADB37F1EA8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3140504"/>
              </p:ext>
            </p:extLst>
          </p:nvPr>
        </p:nvGraphicFramePr>
        <p:xfrm>
          <a:off x="457020" y="5419037"/>
          <a:ext cx="1509712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0" imgW="839880" imgH="197280" progId="Equation.AxMath">
                  <p:embed/>
                </p:oleObj>
              </mc:Choice>
              <mc:Fallback>
                <p:oleObj name="AxMath" r:id="rId20" imgW="839880" imgH="197280" progId="Equation.AxMath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245869DA-8983-14B9-5963-03D7F589D2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57020" y="5419037"/>
                        <a:ext cx="1509712" cy="354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B5DAA499-4040-0444-2D55-545701E86EC4}"/>
              </a:ext>
            </a:extLst>
          </p:cNvPr>
          <p:cNvCxnSpPr>
            <a:cxnSpLocks/>
          </p:cNvCxnSpPr>
          <p:nvPr/>
        </p:nvCxnSpPr>
        <p:spPr>
          <a:xfrm>
            <a:off x="7208116" y="2620617"/>
            <a:ext cx="10244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55E707E8-054C-8E17-05A5-A7BBF68A62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0091783"/>
              </p:ext>
            </p:extLst>
          </p:nvPr>
        </p:nvGraphicFramePr>
        <p:xfrm>
          <a:off x="8904288" y="1801813"/>
          <a:ext cx="900112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2" imgW="501120" imgH="374400" progId="Equation.AxMath">
                  <p:embed/>
                </p:oleObj>
              </mc:Choice>
              <mc:Fallback>
                <p:oleObj name="AxMath" r:id="rId22" imgW="501120" imgH="374400" progId="Equation.AxMath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4FD63822-A1B0-3155-D687-4227D3893B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8904288" y="1801813"/>
                        <a:ext cx="900112" cy="671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66CEB53A-CE06-B3A4-46E5-7CB6F15C6C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593097"/>
              </p:ext>
            </p:extLst>
          </p:nvPr>
        </p:nvGraphicFramePr>
        <p:xfrm>
          <a:off x="8601604" y="2674395"/>
          <a:ext cx="259715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4" imgW="1448280" imgH="384480" progId="Equation.AxMath">
                  <p:embed/>
                </p:oleObj>
              </mc:Choice>
              <mc:Fallback>
                <p:oleObj name="AxMath" r:id="rId24" imgW="1448280" imgH="384480" progId="Equation.AxMath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55E707E8-054C-8E17-05A5-A7BBF68A62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8601604" y="2674395"/>
                        <a:ext cx="2597150" cy="688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75893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4B0C4-B951-067B-883F-079B178F9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B406B3-D376-728E-F40F-FD1435C75E16}"/>
              </a:ext>
            </a:extLst>
          </p:cNvPr>
          <p:cNvSpPr txBox="1"/>
          <p:nvPr/>
        </p:nvSpPr>
        <p:spPr>
          <a:xfrm>
            <a:off x="446644" y="192699"/>
            <a:ext cx="2093843" cy="46166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zh-CN" sz="2400" b="1" spc="100" dirty="0">
                <a:solidFill>
                  <a:schemeClr val="accent1"/>
                </a:solidFill>
                <a:latin typeface="+mj-ea"/>
                <a:ea typeface="+mj-ea"/>
              </a:rPr>
              <a:t>2 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  <a:ea typeface="+mj-ea"/>
              </a:rPr>
              <a:t>误差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</a:rPr>
              <a:t>线性化</a:t>
            </a:r>
            <a:endParaRPr lang="zh-CN" altLang="en-US" sz="2400" b="1" spc="1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A266F5A9-DF28-A1DD-D17A-E76380B87B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4543153"/>
              </p:ext>
            </p:extLst>
          </p:nvPr>
        </p:nvGraphicFramePr>
        <p:xfrm>
          <a:off x="531310" y="2064920"/>
          <a:ext cx="2087562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" imgW="1161720" imgH="200160" progId="Equation.AxMath">
                  <p:embed/>
                </p:oleObj>
              </mc:Choice>
              <mc:Fallback>
                <p:oleObj name="AxMath" r:id="rId2" imgW="1161720" imgH="200160" progId="Equation.AxMath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A266F5A9-DF28-A1DD-D17A-E76380B87B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1310" y="2064920"/>
                        <a:ext cx="2087562" cy="358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5706D78F-5115-35F9-5158-3C1239C0AA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3992488"/>
              </p:ext>
            </p:extLst>
          </p:nvPr>
        </p:nvGraphicFramePr>
        <p:xfrm>
          <a:off x="531310" y="960966"/>
          <a:ext cx="2652713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4" imgW="1485000" imgH="353520" progId="Equation.AxMath">
                  <p:embed/>
                </p:oleObj>
              </mc:Choice>
              <mc:Fallback>
                <p:oleObj name="AxMath" r:id="rId4" imgW="1485000" imgH="353520" progId="Equation.AxMath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5706D78F-5115-35F9-5158-3C1239C0AA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31310" y="960966"/>
                        <a:ext cx="2652713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66A1F944-14AB-5371-1B42-3B050A105B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464642"/>
              </p:ext>
            </p:extLst>
          </p:nvPr>
        </p:nvGraphicFramePr>
        <p:xfrm>
          <a:off x="449235" y="2884166"/>
          <a:ext cx="4414838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6" imgW="2451600" imgH="347400" progId="Equation.AxMath">
                  <p:embed/>
                </p:oleObj>
              </mc:Choice>
              <mc:Fallback>
                <p:oleObj name="AxMath" r:id="rId6" imgW="2451600" imgH="347400" progId="Equation.AxMath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A266F5A9-DF28-A1DD-D17A-E76380B87B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49235" y="2884166"/>
                        <a:ext cx="4414838" cy="620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33">
            <a:extLst>
              <a:ext uri="{FF2B5EF4-FFF2-40B4-BE49-F238E27FC236}">
                <a16:creationId xmlns:a16="http://schemas.microsoft.com/office/drawing/2014/main" id="{7CD33994-AFCD-F4B9-590A-CBAB46F12540}"/>
              </a:ext>
            </a:extLst>
          </p:cNvPr>
          <p:cNvSpPr txBox="1"/>
          <p:nvPr/>
        </p:nvSpPr>
        <p:spPr>
          <a:xfrm>
            <a:off x="328111" y="4067494"/>
            <a:ext cx="7227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因为</a:t>
            </a:r>
          </a:p>
        </p:txBody>
      </p: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ECF0AF43-A2CC-4A58-0C8D-A7073F8D77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4425289"/>
              </p:ext>
            </p:extLst>
          </p:nvPr>
        </p:nvGraphicFramePr>
        <p:xfrm>
          <a:off x="1095375" y="4089399"/>
          <a:ext cx="95885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8" imgW="533880" imgH="207000" progId="Equation.AxMath">
                  <p:embed/>
                </p:oleObj>
              </mc:Choice>
              <mc:Fallback>
                <p:oleObj name="AxMath" r:id="rId8" imgW="533880" imgH="207000" progId="Equation.AxMath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66A1F944-14AB-5371-1B42-3B050A105B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95375" y="4089399"/>
                        <a:ext cx="95885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1FE3E308-72B9-61DE-E103-A9FD6C75550A}"/>
              </a:ext>
            </a:extLst>
          </p:cNvPr>
          <p:cNvCxnSpPr>
            <a:cxnSpLocks/>
          </p:cNvCxnSpPr>
          <p:nvPr/>
        </p:nvCxnSpPr>
        <p:spPr>
          <a:xfrm>
            <a:off x="2171286" y="4273087"/>
            <a:ext cx="7730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8BC4CE11-0206-BFC4-8167-E7662CCA35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6511297"/>
              </p:ext>
            </p:extLst>
          </p:nvPr>
        </p:nvGraphicFramePr>
        <p:xfrm>
          <a:off x="3097213" y="3951287"/>
          <a:ext cx="1573212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0" imgW="874800" imgH="347400" progId="Equation.AxMath">
                  <p:embed/>
                </p:oleObj>
              </mc:Choice>
              <mc:Fallback>
                <p:oleObj name="AxMath" r:id="rId10" imgW="874800" imgH="347400" progId="Equation.AxMath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66A1F944-14AB-5371-1B42-3B050A105B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097213" y="3951287"/>
                        <a:ext cx="1573212" cy="620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CD96031B-1BAB-796A-503A-C1366A50A6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9614687"/>
              </p:ext>
            </p:extLst>
          </p:nvPr>
        </p:nvGraphicFramePr>
        <p:xfrm>
          <a:off x="4050241" y="1523471"/>
          <a:ext cx="90487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2" imgW="503640" imgH="376920" progId="Equation.AxMath">
                  <p:embed/>
                </p:oleObj>
              </mc:Choice>
              <mc:Fallback>
                <p:oleObj name="AxMath" r:id="rId12" imgW="503640" imgH="376920" progId="Equation.AxMath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66A1F944-14AB-5371-1B42-3B050A105B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050241" y="1523471"/>
                        <a:ext cx="904875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D3734A0B-4E62-7D06-05E9-13372ED9B140}"/>
              </a:ext>
            </a:extLst>
          </p:cNvPr>
          <p:cNvCxnSpPr>
            <a:cxnSpLocks/>
          </p:cNvCxnSpPr>
          <p:nvPr/>
        </p:nvCxnSpPr>
        <p:spPr>
          <a:xfrm>
            <a:off x="4838286" y="4261975"/>
            <a:ext cx="7730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CEF3F992-FE02-5EDE-FAD6-821CD76A01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5912617"/>
              </p:ext>
            </p:extLst>
          </p:nvPr>
        </p:nvGraphicFramePr>
        <p:xfrm>
          <a:off x="5700713" y="4081462"/>
          <a:ext cx="1122362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4" imgW="624600" imgH="197280" progId="Equation.AxMath">
                  <p:embed/>
                </p:oleObj>
              </mc:Choice>
              <mc:Fallback>
                <p:oleObj name="AxMath" r:id="rId14" imgW="624600" imgH="197280" progId="Equation.AxMath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8BC4CE11-0206-BFC4-8167-E7662CCA35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700713" y="4081462"/>
                        <a:ext cx="1122362" cy="354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19912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A48D3-3496-6A37-4EA3-7A2AAB154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3FBACBB-ED30-7B8A-2D03-FDD5B710821C}"/>
              </a:ext>
            </a:extLst>
          </p:cNvPr>
          <p:cNvSpPr txBox="1"/>
          <p:nvPr/>
        </p:nvSpPr>
        <p:spPr>
          <a:xfrm>
            <a:off x="446644" y="192699"/>
            <a:ext cx="1596912" cy="46166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zh-CN" sz="2400" b="1" spc="100" dirty="0">
                <a:solidFill>
                  <a:schemeClr val="accent1"/>
                </a:solidFill>
                <a:latin typeface="+mj-ea"/>
                <a:ea typeface="+mj-ea"/>
              </a:rPr>
              <a:t>3 </a:t>
            </a:r>
            <a:r>
              <a:rPr lang="en-US" altLang="zh-CN" sz="2400" b="1" spc="100" dirty="0" err="1">
                <a:solidFill>
                  <a:schemeClr val="accent1"/>
                </a:solidFill>
                <a:latin typeface="+mj-ea"/>
                <a:ea typeface="+mj-ea"/>
              </a:rPr>
              <a:t>lqr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  <a:ea typeface="+mj-ea"/>
              </a:rPr>
              <a:t>设计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80290F8-AB03-C43E-9279-61CBC8B170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8919014"/>
              </p:ext>
            </p:extLst>
          </p:nvPr>
        </p:nvGraphicFramePr>
        <p:xfrm>
          <a:off x="446644" y="4165336"/>
          <a:ext cx="6962776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" imgW="3870360" imgH="374760" progId="Equation.AxMath">
                  <p:embed/>
                </p:oleObj>
              </mc:Choice>
              <mc:Fallback>
                <p:oleObj name="AxMath" r:id="rId2" imgW="3870360" imgH="374760" progId="Equation.AxMath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CB39BE21-2C45-419E-74EA-5AC8663AB5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46644" y="4165336"/>
                        <a:ext cx="6962776" cy="677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CCD0CA09-47E0-CA4D-6C66-37B9072697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054202" y="427239"/>
            <a:ext cx="2885017" cy="3846689"/>
          </a:xfrm>
          <a:prstGeom prst="rect">
            <a:avLst/>
          </a:prstGeom>
        </p:spPr>
      </p:pic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F1FD6D0-5A2C-A9F0-F965-8888602A5F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1002183"/>
              </p:ext>
            </p:extLst>
          </p:nvPr>
        </p:nvGraphicFramePr>
        <p:xfrm>
          <a:off x="446644" y="1026608"/>
          <a:ext cx="1090612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5" imgW="606600" imgH="374400" progId="Equation.AxMath">
                  <p:embed/>
                </p:oleObj>
              </mc:Choice>
              <mc:Fallback>
                <p:oleObj name="AxMath" r:id="rId5" imgW="606600" imgH="374400" progId="Equation.AxMath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CD96031B-1BAB-796A-503A-C1366A50A6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6644" y="1026608"/>
                        <a:ext cx="1090612" cy="671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5784B96-BA4A-33A3-4261-309C6870E4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8800422"/>
              </p:ext>
            </p:extLst>
          </p:nvPr>
        </p:nvGraphicFramePr>
        <p:xfrm>
          <a:off x="446644" y="5215442"/>
          <a:ext cx="4491038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7" imgW="2498040" imgH="333360" progId="Equation.AxMath">
                  <p:embed/>
                </p:oleObj>
              </mc:Choice>
              <mc:Fallback>
                <p:oleObj name="AxMath" r:id="rId7" imgW="2498040" imgH="333360" progId="Equation.AxMath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EF1FD6D0-5A2C-A9F0-F965-8888602A5F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6644" y="5215442"/>
                        <a:ext cx="4491038" cy="600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82764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337E5-8DA1-A112-E554-8665D0B4C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99D66F3-BCB3-3B58-A65C-04247B1546A8}"/>
              </a:ext>
            </a:extLst>
          </p:cNvPr>
          <p:cNvSpPr txBox="1"/>
          <p:nvPr/>
        </p:nvSpPr>
        <p:spPr>
          <a:xfrm>
            <a:off x="446644" y="192699"/>
            <a:ext cx="1132041" cy="46166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zh-CN" sz="2400" b="1" spc="100" dirty="0">
                <a:solidFill>
                  <a:schemeClr val="accent1"/>
                </a:solidFill>
                <a:latin typeface="+mj-ea"/>
                <a:ea typeface="+mj-ea"/>
              </a:rPr>
              <a:t>4 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</a:rPr>
              <a:t>缺陷</a:t>
            </a:r>
            <a:endParaRPr lang="zh-CN" altLang="en-US" sz="2400" b="1" spc="1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3C60238-36AF-DC96-6099-40D1D3ED1FEC}"/>
              </a:ext>
            </a:extLst>
          </p:cNvPr>
          <p:cNvSpPr txBox="1"/>
          <p:nvPr/>
        </p:nvSpPr>
        <p:spPr>
          <a:xfrm>
            <a:off x="446644" y="954284"/>
            <a:ext cx="653835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缺陷</a:t>
            </a:r>
            <a:r>
              <a:rPr lang="en-US" altLang="zh-CN" dirty="0"/>
              <a:t>:</a:t>
            </a:r>
          </a:p>
          <a:p>
            <a:endParaRPr lang="en-US" altLang="zh-CN" dirty="0"/>
          </a:p>
          <a:p>
            <a:r>
              <a:rPr lang="en-US" altLang="zh-CN" dirty="0"/>
              <a:t>LQR</a:t>
            </a:r>
            <a:r>
              <a:rPr lang="zh-CN" altLang="en-US" dirty="0"/>
              <a:t>控制缺少公共速度项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还是需要坐标系对齐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Lqr</a:t>
            </a:r>
            <a:r>
              <a:rPr lang="zh-CN" altLang="en-US" dirty="0"/>
              <a:t>系统模型多了一个项，需要考虑怎么解决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DB0449A-037F-3115-351D-E14AEC0F450F}"/>
              </a:ext>
            </a:extLst>
          </p:cNvPr>
          <p:cNvSpPr txBox="1"/>
          <p:nvPr/>
        </p:nvSpPr>
        <p:spPr>
          <a:xfrm>
            <a:off x="446644" y="3963074"/>
            <a:ext cx="65383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后续</a:t>
            </a:r>
            <a:r>
              <a:rPr lang="en-US" altLang="zh-CN" dirty="0"/>
              <a:t>:</a:t>
            </a:r>
          </a:p>
          <a:p>
            <a:endParaRPr lang="en-US" altLang="zh-CN" dirty="0"/>
          </a:p>
          <a:p>
            <a:r>
              <a:rPr lang="zh-CN" altLang="en-US" dirty="0"/>
              <a:t>系统学习最优控制理论</a:t>
            </a:r>
          </a:p>
        </p:txBody>
      </p:sp>
    </p:spTree>
    <p:extLst>
      <p:ext uri="{BB962C8B-B14F-4D97-AF65-F5344CB8AC3E}">
        <p14:creationId xmlns:p14="http://schemas.microsoft.com/office/powerpoint/2010/main" val="138347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GE3Y2I3OTRlNTA1NjUwZGY1NGI3NTM4NWZhMGI4N2IifQ=="/>
</p:tagLst>
</file>

<file path=ppt/theme/theme1.xml><?xml version="1.0" encoding="utf-8"?>
<a:theme xmlns:a="http://schemas.openxmlformats.org/drawingml/2006/main" name="Office 主题​​">
  <a:themeElements>
    <a:clrScheme name="1-灰蓝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497B"/>
      </a:accent1>
      <a:accent2>
        <a:srgbClr val="D9D9D9"/>
      </a:accent2>
      <a:accent3>
        <a:srgbClr val="F2F2F2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2079</TotalTime>
  <Words>65</Words>
  <Application>Microsoft Office PowerPoint</Application>
  <PresentationFormat>宽屏</PresentationFormat>
  <Paragraphs>24</Paragraphs>
  <Slides>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微软雅黑</vt:lpstr>
      <vt:lpstr>Arial</vt:lpstr>
      <vt:lpstr>Office 主题​​</vt:lpstr>
      <vt:lpstr>AxMath</vt:lpstr>
      <vt:lpstr>Equation.AxMath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香 草</dc:creator>
  <cp:lastModifiedBy>铮扬 朱</cp:lastModifiedBy>
  <cp:revision>872</cp:revision>
  <dcterms:created xsi:type="dcterms:W3CDTF">2024-12-30T12:20:00Z</dcterms:created>
  <dcterms:modified xsi:type="dcterms:W3CDTF">2025-12-24T10:18:25Z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0CB2F8EEEECD470B9D8DE2D345962899_12</vt:lpwstr>
  </property>
  <property fmtid="{D5CDD505-2E9C-101B-9397-08002B2CF9AE}" pid="3" name="KSOProductBuildVer">
    <vt:lpwstr>2052-12.1.0.16120</vt:lpwstr>
  </property>
</Properties>
</file>