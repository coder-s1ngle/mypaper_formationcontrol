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12" r:id="rId2"/>
    <p:sldId id="320" r:id="rId3"/>
    <p:sldId id="339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 autoAdjust="0"/>
    <p:restoredTop sz="93265" autoAdjust="0"/>
  </p:normalViewPr>
  <p:slideViewPr>
    <p:cSldViewPr snapToGrid="0" showGuides="1">
      <p:cViewPr varScale="1">
        <p:scale>
          <a:sx n="160" d="100"/>
          <a:sy n="160" d="100"/>
        </p:scale>
        <p:origin x="96" y="112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2025.10.15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6644" y="192699"/>
            <a:ext cx="2414444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近期学习内容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294A371-E9E4-B349-E8EB-33ED7F0FC918}"/>
              </a:ext>
            </a:extLst>
          </p:cNvPr>
          <p:cNvGrpSpPr/>
          <p:nvPr/>
        </p:nvGrpSpPr>
        <p:grpSpPr>
          <a:xfrm>
            <a:off x="533399" y="809631"/>
            <a:ext cx="11125201" cy="2144026"/>
            <a:chOff x="533399" y="809631"/>
            <a:chExt cx="11125201" cy="214402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A36D8B0-2B12-9D6A-DF56-D9832899E082}"/>
                </a:ext>
              </a:extLst>
            </p:cNvPr>
            <p:cNvSpPr/>
            <p:nvPr/>
          </p:nvSpPr>
          <p:spPr>
            <a:xfrm>
              <a:off x="533400" y="845057"/>
              <a:ext cx="11125200" cy="2108600"/>
            </a:xfrm>
            <a:prstGeom prst="roundRect">
              <a:avLst>
                <a:gd name="adj" fmla="val 0"/>
              </a:avLst>
            </a:prstGeom>
            <a:gradFill>
              <a:gsLst>
                <a:gs pos="19000">
                  <a:schemeClr val="bg1"/>
                </a:gs>
                <a:gs pos="100000">
                  <a:schemeClr val="bg1"/>
                </a:gs>
              </a:gsLst>
              <a:lin ang="2700000" scaled="1"/>
            </a:gradFill>
            <a:ln>
              <a:solidFill>
                <a:schemeClr val="accent1"/>
              </a:solidFill>
            </a:ln>
            <a:effectLst>
              <a:outerShdw blurRad="495300" dist="304800" dir="2700000" sx="95000" sy="95000" algn="tl" rotWithShape="0">
                <a:schemeClr val="accent1">
                  <a:lumMod val="40000"/>
                  <a:lumOff val="60000"/>
                  <a:alpha val="1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思源黑体 CN Regular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B22FDD-B8C4-7152-4456-9E16E647657B}"/>
                </a:ext>
              </a:extLst>
            </p:cNvPr>
            <p:cNvSpPr txBox="1"/>
            <p:nvPr/>
          </p:nvSpPr>
          <p:spPr>
            <a:xfrm>
              <a:off x="533399" y="809631"/>
              <a:ext cx="10678887" cy="2120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b="1" dirty="0">
                  <a:latin typeface="微软雅黑" panose="020B0503020204020204" charset="-122"/>
                  <a:ea typeface="思源黑体 CN Regular"/>
                </a:rPr>
                <a:t>学习四旋翼无人机控制与仿真</a:t>
              </a: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主要学习内容：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无人机的控制模型，包括运动学模型、动力学模型和控制效率模型以及对应简化模型的条件和结果。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双环串级</a:t>
              </a:r>
              <a:r>
                <a:rPr lang="en-US" altLang="zh-CN" dirty="0" err="1">
                  <a:latin typeface="微软雅黑" panose="020B0503020204020204" charset="-122"/>
                  <a:ea typeface="思源黑体 CN Regular"/>
                </a:rPr>
                <a:t>pid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控制方法。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学习</a:t>
              </a:r>
              <a:r>
                <a:rPr lang="en-US" altLang="zh-CN" dirty="0">
                  <a:latin typeface="微软雅黑" panose="020B0503020204020204" charset="-122"/>
                  <a:ea typeface="思源黑体 CN Regular"/>
                </a:rPr>
                <a:t>b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站博主</a:t>
              </a:r>
              <a:r>
                <a:rPr lang="en-US" altLang="zh-CN" dirty="0" err="1">
                  <a:latin typeface="微软雅黑" panose="020B0503020204020204" charset="-122"/>
                  <a:ea typeface="思源黑体 CN Regular"/>
                </a:rPr>
                <a:t>simulink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仿真工程文件，使用</a:t>
              </a:r>
              <a:r>
                <a:rPr lang="en-US" altLang="zh-CN" dirty="0" err="1">
                  <a:latin typeface="微软雅黑" panose="020B0503020204020204" charset="-122"/>
                  <a:ea typeface="思源黑体 CN Regular"/>
                </a:rPr>
                <a:t>c++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构建无人机控制模型，并尝试设计</a:t>
              </a:r>
              <a:r>
                <a:rPr lang="en-US" altLang="zh-CN" dirty="0">
                  <a:latin typeface="微软雅黑" panose="020B0503020204020204" charset="-122"/>
                  <a:ea typeface="思源黑体 CN Regular"/>
                </a:rPr>
                <a:t>PID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控制器。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E6FB442-BFE8-FF54-3190-DAB01F23BFD8}"/>
              </a:ext>
            </a:extLst>
          </p:cNvPr>
          <p:cNvGrpSpPr/>
          <p:nvPr/>
        </p:nvGrpSpPr>
        <p:grpSpPr>
          <a:xfrm>
            <a:off x="533399" y="3429000"/>
            <a:ext cx="11125200" cy="1640115"/>
            <a:chOff x="533399" y="3323771"/>
            <a:chExt cx="11125200" cy="1640115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4AB5B91-3425-8475-24B9-BB651FFEA0A0}"/>
                </a:ext>
              </a:extLst>
            </p:cNvPr>
            <p:cNvSpPr/>
            <p:nvPr/>
          </p:nvSpPr>
          <p:spPr>
            <a:xfrm>
              <a:off x="533399" y="3323771"/>
              <a:ext cx="11125200" cy="1640115"/>
            </a:xfrm>
            <a:prstGeom prst="roundRect">
              <a:avLst>
                <a:gd name="adj" fmla="val 0"/>
              </a:avLst>
            </a:prstGeom>
            <a:gradFill>
              <a:gsLst>
                <a:gs pos="19000">
                  <a:schemeClr val="bg1"/>
                </a:gs>
                <a:gs pos="100000">
                  <a:schemeClr val="bg1"/>
                </a:gs>
              </a:gsLst>
              <a:lin ang="2700000" scaled="1"/>
            </a:gradFill>
            <a:ln>
              <a:solidFill>
                <a:schemeClr val="accent1"/>
              </a:solidFill>
            </a:ln>
            <a:effectLst>
              <a:outerShdw blurRad="495300" dist="304800" dir="2700000" sx="95000" sy="95000" algn="tl" rotWithShape="0">
                <a:schemeClr val="accent1">
                  <a:lumMod val="40000"/>
                  <a:lumOff val="60000"/>
                  <a:alpha val="1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defRPr/>
              </a:pPr>
              <a:endParaRPr lang="en-US" altLang="zh-CN" dirty="0">
                <a:solidFill>
                  <a:schemeClr val="tx1"/>
                </a:solidFill>
                <a:latin typeface="微软雅黑" panose="020B0503020204020204" charset="-122"/>
                <a:ea typeface="思源黑体 CN Regular"/>
              </a:endParaRPr>
            </a:p>
            <a:p>
              <a:pPr marL="0"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思源黑体 CN Regular"/>
                <a:cs typeface="+mn-cs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6F0F56-6F3A-BC1F-B4E5-8BD6D1A34D62}"/>
                </a:ext>
              </a:extLst>
            </p:cNvPr>
            <p:cNvSpPr txBox="1"/>
            <p:nvPr/>
          </p:nvSpPr>
          <p:spPr>
            <a:xfrm>
              <a:off x="533399" y="3323771"/>
              <a:ext cx="10678887" cy="1289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altLang="zh-CN" b="1" dirty="0" err="1">
                  <a:latin typeface="微软雅黑" panose="020B0503020204020204" charset="-122"/>
                  <a:ea typeface="思源黑体 CN Regular"/>
                </a:rPr>
                <a:t>c++</a:t>
              </a:r>
              <a:r>
                <a:rPr lang="en-US" altLang="zh-CN" b="1" dirty="0">
                  <a:latin typeface="微软雅黑" panose="020B0503020204020204" charset="-122"/>
                  <a:ea typeface="思源黑体 CN Regular"/>
                </a:rPr>
                <a:t>&amp;python</a:t>
              </a:r>
              <a:r>
                <a:rPr lang="zh-CN" altLang="en-US" b="1" dirty="0">
                  <a:latin typeface="微软雅黑" panose="020B0503020204020204" charset="-122"/>
                  <a:ea typeface="思源黑体 CN Regular"/>
                </a:rPr>
                <a:t>编程以及基础开发知识</a:t>
              </a: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主要学习内容：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基础语法知识、</a:t>
              </a:r>
              <a:r>
                <a:rPr lang="en-US" altLang="zh-CN" dirty="0" err="1">
                  <a:latin typeface="微软雅黑" panose="020B0503020204020204" charset="-122"/>
                  <a:ea typeface="思源黑体 CN Regular"/>
                </a:rPr>
                <a:t>Cmake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编译方式、</a:t>
              </a:r>
              <a:r>
                <a:rPr lang="en-US" altLang="zh-CN" dirty="0">
                  <a:latin typeface="微软雅黑" panose="020B0503020204020204" charset="-122"/>
                  <a:ea typeface="思源黑体 CN Regular"/>
                </a:rPr>
                <a:t>shell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指令</a:t>
              </a:r>
              <a:r>
                <a:rPr lang="en-US" altLang="zh-CN" dirty="0">
                  <a:latin typeface="微软雅黑" panose="020B0503020204020204" charset="-122"/>
                  <a:ea typeface="思源黑体 CN Regular"/>
                </a:rPr>
                <a:t>(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主要是</a:t>
              </a:r>
              <a:r>
                <a:rPr lang="en-US" altLang="zh-CN" dirty="0" err="1">
                  <a:latin typeface="微软雅黑" panose="020B0503020204020204" charset="-122"/>
                  <a:ea typeface="思源黑体 CN Regular"/>
                </a:rPr>
                <a:t>linux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操作系统</a:t>
              </a:r>
              <a:r>
                <a:rPr lang="en-US" altLang="zh-CN" dirty="0">
                  <a:latin typeface="微软雅黑" panose="020B0503020204020204" charset="-122"/>
                  <a:ea typeface="思源黑体 CN Regular"/>
                </a:rPr>
                <a:t>)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以及</a:t>
              </a:r>
              <a:r>
                <a:rPr lang="en-US" altLang="zh-CN" dirty="0">
                  <a:latin typeface="微软雅黑" panose="020B0503020204020204" charset="-122"/>
                  <a:ea typeface="思源黑体 CN Regular"/>
                </a:rPr>
                <a:t>git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常用操作。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ADEBC-C652-5E52-FC92-FDC6EE724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1A7FFC-476F-34B6-286A-0434EF4BEE8D}"/>
              </a:ext>
            </a:extLst>
          </p:cNvPr>
          <p:cNvSpPr txBox="1"/>
          <p:nvPr/>
        </p:nvSpPr>
        <p:spPr>
          <a:xfrm>
            <a:off x="446644" y="192699"/>
            <a:ext cx="1773242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实践内容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DE3FC6F-2E4C-AAD6-73D5-DB02A66AD85C}"/>
              </a:ext>
            </a:extLst>
          </p:cNvPr>
          <p:cNvGrpSpPr/>
          <p:nvPr/>
        </p:nvGrpSpPr>
        <p:grpSpPr>
          <a:xfrm>
            <a:off x="446644" y="861314"/>
            <a:ext cx="11125201" cy="2967239"/>
            <a:chOff x="533399" y="809631"/>
            <a:chExt cx="11125201" cy="1266455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BDAAB40-4396-6C74-AEFF-2C1FAEE7434B}"/>
                </a:ext>
              </a:extLst>
            </p:cNvPr>
            <p:cNvSpPr/>
            <p:nvPr/>
          </p:nvSpPr>
          <p:spPr>
            <a:xfrm>
              <a:off x="533400" y="845052"/>
              <a:ext cx="11125200" cy="12629135"/>
            </a:xfrm>
            <a:prstGeom prst="roundRect">
              <a:avLst>
                <a:gd name="adj" fmla="val 0"/>
              </a:avLst>
            </a:prstGeom>
            <a:gradFill>
              <a:gsLst>
                <a:gs pos="19000">
                  <a:schemeClr val="bg1"/>
                </a:gs>
                <a:gs pos="100000">
                  <a:schemeClr val="bg1"/>
                </a:gs>
              </a:gsLst>
              <a:lin ang="2700000" scaled="1"/>
            </a:gradFill>
            <a:ln>
              <a:solidFill>
                <a:schemeClr val="accent1"/>
              </a:solidFill>
            </a:ln>
            <a:effectLst>
              <a:outerShdw blurRad="495300" dist="304800" dir="2700000" sx="95000" sy="95000" algn="tl" rotWithShape="0">
                <a:schemeClr val="accent1">
                  <a:lumMod val="40000"/>
                  <a:lumOff val="60000"/>
                  <a:alpha val="1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思源黑体 CN Regular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351B695-6119-547F-8780-D1AB78BE87C3}"/>
                </a:ext>
              </a:extLst>
            </p:cNvPr>
            <p:cNvSpPr txBox="1"/>
            <p:nvPr/>
          </p:nvSpPr>
          <p:spPr>
            <a:xfrm>
              <a:off x="533399" y="809631"/>
              <a:ext cx="10678887" cy="1259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altLang="zh-CN" b="1" dirty="0">
                  <a:latin typeface="微软雅黑" panose="020B0503020204020204" charset="-122"/>
                  <a:ea typeface="思源黑体 CN Regular"/>
                </a:rPr>
                <a:t>C++</a:t>
              </a:r>
              <a:r>
                <a:rPr lang="zh-CN" altLang="en-US" b="1" dirty="0">
                  <a:latin typeface="微软雅黑" panose="020B0503020204020204" charset="-122"/>
                  <a:ea typeface="思源黑体 CN Regular"/>
                </a:rPr>
                <a:t>搭建无人机模型，设计仿真文件，尝试验证模型正确性</a:t>
              </a: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验证方法：给出油门指令，通过控制台输出无人机状态参数，观察是否能完成悬停；调整不同组旋翼转速，观察是否能够完成对应姿态角变化或掉头。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b="1" dirty="0">
                  <a:latin typeface="微软雅黑" panose="020B0503020204020204" charset="-122"/>
                  <a:ea typeface="思源黑体 CN Regular"/>
                </a:rPr>
                <a:t>后续改进：</a:t>
              </a: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学习辽飞师兄工程代码，完成</a:t>
              </a:r>
              <a:r>
                <a:rPr lang="en-US" altLang="zh-CN" dirty="0" err="1">
                  <a:latin typeface="微软雅黑" panose="020B0503020204020204" charset="-122"/>
                  <a:ea typeface="思源黑体 CN Regular"/>
                </a:rPr>
                <a:t>pid</a:t>
              </a:r>
              <a:r>
                <a:rPr lang="zh-CN" altLang="en-US" dirty="0">
                  <a:latin typeface="微软雅黑" panose="020B0503020204020204" charset="-122"/>
                  <a:ea typeface="思源黑体 CN Regular"/>
                </a:rPr>
                <a:t>控制；控制模型引入四元数；尽量用力和力矩构建模型，代替矩阵公式。</a:t>
              </a:r>
              <a:endParaRPr lang="en-US" altLang="zh-CN" dirty="0">
                <a:latin typeface="微软雅黑" panose="020B0503020204020204" charset="-122"/>
                <a:ea typeface="思源黑体 CN Regular"/>
              </a:endParaRPr>
            </a:p>
            <a:p>
              <a:pPr lvl="0">
                <a:lnSpc>
                  <a:spcPct val="150000"/>
                </a:lnSpc>
                <a:defRPr/>
              </a:pP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931B16-8BC2-10C1-4B35-10AC225F1635}"/>
              </a:ext>
            </a:extLst>
          </p:cNvPr>
          <p:cNvGrpSpPr/>
          <p:nvPr/>
        </p:nvGrpSpPr>
        <p:grpSpPr>
          <a:xfrm>
            <a:off x="446644" y="4253871"/>
            <a:ext cx="11125201" cy="501010"/>
            <a:chOff x="533399" y="809631"/>
            <a:chExt cx="11125201" cy="1266455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C4DE2602-94EC-5F18-1E37-6E3A88E03907}"/>
                </a:ext>
              </a:extLst>
            </p:cNvPr>
            <p:cNvSpPr/>
            <p:nvPr/>
          </p:nvSpPr>
          <p:spPr>
            <a:xfrm>
              <a:off x="533400" y="845052"/>
              <a:ext cx="11125200" cy="12629135"/>
            </a:xfrm>
            <a:prstGeom prst="roundRect">
              <a:avLst>
                <a:gd name="adj" fmla="val 0"/>
              </a:avLst>
            </a:prstGeom>
            <a:gradFill>
              <a:gsLst>
                <a:gs pos="19000">
                  <a:schemeClr val="bg1"/>
                </a:gs>
                <a:gs pos="100000">
                  <a:schemeClr val="bg1"/>
                </a:gs>
              </a:gsLst>
              <a:lin ang="2700000" scaled="1"/>
            </a:gradFill>
            <a:ln>
              <a:solidFill>
                <a:schemeClr val="accent1"/>
              </a:solidFill>
            </a:ln>
            <a:effectLst>
              <a:outerShdw blurRad="495300" dist="304800" dir="2700000" sx="95000" sy="95000" algn="tl" rotWithShape="0">
                <a:schemeClr val="accent1">
                  <a:lumMod val="40000"/>
                  <a:lumOff val="60000"/>
                  <a:alpha val="1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思源黑体 CN Regular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49945FF-7DA5-A6CB-0469-C17273093E9C}"/>
                </a:ext>
              </a:extLst>
            </p:cNvPr>
            <p:cNvSpPr txBox="1"/>
            <p:nvPr/>
          </p:nvSpPr>
          <p:spPr>
            <a:xfrm>
              <a:off x="533399" y="809631"/>
              <a:ext cx="10678887" cy="11600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b="1" dirty="0">
                  <a:latin typeface="微软雅黑" panose="020B0503020204020204" charset="-122"/>
                  <a:ea typeface="思源黑体 CN Regular"/>
                </a:rPr>
                <a:t>安装</a:t>
              </a:r>
              <a:r>
                <a:rPr lang="en-US" altLang="zh-CN" b="1" dirty="0">
                  <a:latin typeface="微软雅黑" panose="020B0503020204020204" charset="-122"/>
                  <a:ea typeface="思源黑体 CN Regular"/>
                </a:rPr>
                <a:t>ubuntu</a:t>
              </a:r>
              <a:r>
                <a:rPr lang="zh-CN" altLang="en-US" b="1" dirty="0">
                  <a:latin typeface="微软雅黑" panose="020B0503020204020204" charset="-122"/>
                  <a:ea typeface="思源黑体 CN Regular"/>
                </a:rPr>
                <a:t>系统，配置相应开发环境。</a:t>
              </a:r>
              <a:endParaRPr lang="en-US" altLang="zh-CN" b="1" dirty="0">
                <a:latin typeface="微软雅黑" panose="020B0503020204020204" charset="-122"/>
                <a:ea typeface="思源黑体 CN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863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210</Words>
  <Application>Microsoft Office PowerPoint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348</cp:revision>
  <dcterms:created xsi:type="dcterms:W3CDTF">2024-12-30T12:20:00Z</dcterms:created>
  <dcterms:modified xsi:type="dcterms:W3CDTF">2025-10-15T01:28:38Z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