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12" r:id="rId2"/>
    <p:sldId id="330" r:id="rId3"/>
    <p:sldId id="331" r:id="rId4"/>
  </p:sldIdLst>
  <p:sldSz cx="12192000" cy="6858000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4" userDrawn="1">
          <p15:clr>
            <a:srgbClr val="A4A3A4"/>
          </p15:clr>
        </p15:guide>
        <p15:guide id="4" pos="7129" userDrawn="1">
          <p15:clr>
            <a:srgbClr val="A4A3A4"/>
          </p15:clr>
        </p15:guide>
        <p15:guide id="5" orient="horz" pos="459" userDrawn="1">
          <p15:clr>
            <a:srgbClr val="A4A3A4"/>
          </p15:clr>
        </p15:guide>
        <p15:guide id="6" orient="horz" pos="3861" userDrawn="1">
          <p15:clr>
            <a:srgbClr val="A4A3A4"/>
          </p15:clr>
        </p15:guide>
        <p15:guide id="7" pos="347" userDrawn="1">
          <p15:clr>
            <a:srgbClr val="A4A3A4"/>
          </p15:clr>
        </p15:guide>
        <p15:guide id="8" pos="73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3265" autoAdjust="0"/>
  </p:normalViewPr>
  <p:slideViewPr>
    <p:cSldViewPr snapToGrid="0" showGuides="1">
      <p:cViewPr varScale="1">
        <p:scale>
          <a:sx n="75" d="100"/>
          <a:sy n="75" d="100"/>
        </p:scale>
        <p:origin x="52" y="1932"/>
      </p:cViewPr>
      <p:guideLst>
        <p:guide orient="horz" pos="2170"/>
        <p:guide pos="3840"/>
        <p:guide pos="594"/>
        <p:guide pos="7129"/>
        <p:guide orient="horz" pos="459"/>
        <p:guide orient="horz" pos="3861"/>
        <p:guide pos="347"/>
        <p:guide pos="73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63A5E-7876-4EE8-8911-34AC3DFAAD6A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78E1EA-5B9D-47B4-B3BE-1788425ED1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550863" y="625654"/>
            <a:ext cx="1109027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550863" y="625654"/>
            <a:ext cx="1109027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EF37B-83A2-4D9B-A938-F8A337ADEAF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017788"/>
            <a:ext cx="12192000" cy="2493433"/>
          </a:xfrm>
          <a:prstGeom prst="rect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5" name="组合 84"/>
          <p:cNvGrpSpPr/>
          <p:nvPr/>
        </p:nvGrpSpPr>
        <p:grpSpPr>
          <a:xfrm flipH="1" flipV="1">
            <a:off x="11249025" y="6335607"/>
            <a:ext cx="596597" cy="262959"/>
            <a:chOff x="352728" y="249931"/>
            <a:chExt cx="723900" cy="319070"/>
          </a:xfrm>
        </p:grpSpPr>
        <p:sp>
          <p:nvSpPr>
            <p:cNvPr id="86" name="矩形: 圆角 85"/>
            <p:cNvSpPr/>
            <p:nvPr/>
          </p:nvSpPr>
          <p:spPr>
            <a:xfrm>
              <a:off x="352728" y="249931"/>
              <a:ext cx="72390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: 圆角 86"/>
            <p:cNvSpPr/>
            <p:nvPr/>
          </p:nvSpPr>
          <p:spPr>
            <a:xfrm>
              <a:off x="352728" y="372506"/>
              <a:ext cx="52516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矩形: 圆角 87"/>
            <p:cNvSpPr/>
            <p:nvPr/>
          </p:nvSpPr>
          <p:spPr>
            <a:xfrm>
              <a:off x="352728" y="495081"/>
              <a:ext cx="35371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6" name="文本框 105"/>
          <p:cNvSpPr txBox="1"/>
          <p:nvPr/>
        </p:nvSpPr>
        <p:spPr>
          <a:xfrm>
            <a:off x="4233952" y="2675023"/>
            <a:ext cx="37240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spc="200" dirty="0">
                <a:solidFill>
                  <a:schemeClr val="bg1"/>
                </a:solidFill>
                <a:latin typeface="+mj-ea"/>
                <a:ea typeface="+mj-ea"/>
              </a:rPr>
              <a:t>学习进展汇报</a:t>
            </a:r>
          </a:p>
        </p:txBody>
      </p:sp>
      <p:sp>
        <p:nvSpPr>
          <p:cNvPr id="99" name="文本框 98"/>
          <p:cNvSpPr txBox="1"/>
          <p:nvPr/>
        </p:nvSpPr>
        <p:spPr>
          <a:xfrm>
            <a:off x="2999383" y="515724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汇报人：朱铮扬</a:t>
            </a:r>
          </a:p>
        </p:txBody>
      </p:sp>
      <p:sp>
        <p:nvSpPr>
          <p:cNvPr id="104" name="文本框 103"/>
          <p:cNvSpPr txBox="1"/>
          <p:nvPr/>
        </p:nvSpPr>
        <p:spPr>
          <a:xfrm>
            <a:off x="6916368" y="5157245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汇报日期：</a:t>
            </a:r>
            <a:r>
              <a:rPr lang="en-US" altLang="zh-CN" dirty="0">
                <a:latin typeface="+mn-ea"/>
              </a:rPr>
              <a:t>2025.12.10</a:t>
            </a:r>
            <a:endParaRPr lang="zh-CN" altLang="en-US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1E3AA-F1E5-160F-0916-F08D6F987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5DE348C-B387-C189-741F-72D33EDEE940}"/>
              </a:ext>
            </a:extLst>
          </p:cNvPr>
          <p:cNvSpPr txBox="1"/>
          <p:nvPr/>
        </p:nvSpPr>
        <p:spPr>
          <a:xfrm>
            <a:off x="446644" y="192699"/>
            <a:ext cx="3624710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1 </a:t>
            </a:r>
            <a:r>
              <a:rPr lang="en-US" altLang="zh-CN" sz="2400" b="1" spc="100" dirty="0" err="1">
                <a:solidFill>
                  <a:schemeClr val="accent1"/>
                </a:solidFill>
                <a:latin typeface="+mj-ea"/>
                <a:ea typeface="+mj-ea"/>
              </a:rPr>
              <a:t>lyapunov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稳定性证明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52CF37-6989-C29F-A95E-7E7AFBE9057E}"/>
              </a:ext>
            </a:extLst>
          </p:cNvPr>
          <p:cNvSpPr txBox="1"/>
          <p:nvPr/>
        </p:nvSpPr>
        <p:spPr>
          <a:xfrm>
            <a:off x="6333069" y="3560685"/>
            <a:ext cx="1794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能量函数表示</a:t>
            </a:r>
            <a:r>
              <a:rPr lang="en-US" altLang="zh-CN" dirty="0"/>
              <a:t>V </a:t>
            </a:r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C26EF80-FD5F-F523-D8CA-349D52F03D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3020944"/>
              </p:ext>
            </p:extLst>
          </p:nvPr>
        </p:nvGraphicFramePr>
        <p:xfrm>
          <a:off x="446644" y="1252156"/>
          <a:ext cx="12700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" imgW="705600" imgH="378000" progId="Equation.AxMath">
                  <p:embed/>
                </p:oleObj>
              </mc:Choice>
              <mc:Fallback>
                <p:oleObj name="AxMath" r:id="rId2" imgW="705600" imgH="378000" progId="Equation.AxMath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6FA3C28-F022-45E6-11CC-46BD1A9372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46644" y="1252156"/>
                        <a:ext cx="1270000" cy="682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1884B56-0E93-7A22-1913-730176466E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1697762"/>
              </p:ext>
            </p:extLst>
          </p:nvPr>
        </p:nvGraphicFramePr>
        <p:xfrm>
          <a:off x="2061443" y="1410281"/>
          <a:ext cx="2168525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4" imgW="1202760" imgH="191520" progId="Equation.AxMath">
                  <p:embed/>
                </p:oleObj>
              </mc:Choice>
              <mc:Fallback>
                <p:oleObj name="AxMath" r:id="rId4" imgW="1202760" imgH="191520" progId="Equation.AxMath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1C27C05-26C5-1EC8-71A3-E7CEDED05B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61443" y="1410281"/>
                        <a:ext cx="2168525" cy="347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B5B6C817-481C-8D0A-C81A-C6B9B80668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9771203"/>
              </p:ext>
            </p:extLst>
          </p:nvPr>
        </p:nvGraphicFramePr>
        <p:xfrm>
          <a:off x="446644" y="2282564"/>
          <a:ext cx="3700463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6" imgW="2054880" imgH="374760" progId="Equation.AxMath">
                  <p:embed/>
                </p:oleObj>
              </mc:Choice>
              <mc:Fallback>
                <p:oleObj name="AxMath" r:id="rId6" imgW="2054880" imgH="374760" progId="Equation.AxMath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BB8D44C4-19AE-6633-1AC3-30395E4067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6644" y="2282564"/>
                        <a:ext cx="3700463" cy="677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B00F7C36-53F4-93B2-A756-E4BF207FDD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088790"/>
              </p:ext>
            </p:extLst>
          </p:nvPr>
        </p:nvGraphicFramePr>
        <p:xfrm>
          <a:off x="446644" y="3485048"/>
          <a:ext cx="1831975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8" imgW="1017720" imgH="192600" progId="Equation.AxMath">
                  <p:embed/>
                </p:oleObj>
              </mc:Choice>
              <mc:Fallback>
                <p:oleObj name="AxMath" r:id="rId8" imgW="1017720" imgH="192600" progId="Equation.AxMath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454FA641-A811-A573-2818-18C70527B5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46644" y="3485048"/>
                        <a:ext cx="1831975" cy="347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C8D0B51F-1E7B-265B-7026-8F1E205E2E4C}"/>
              </a:ext>
            </a:extLst>
          </p:cNvPr>
          <p:cNvSpPr txBox="1"/>
          <p:nvPr/>
        </p:nvSpPr>
        <p:spPr>
          <a:xfrm>
            <a:off x="420578" y="4357332"/>
            <a:ext cx="37160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将期望标量 分配到相对位置向量上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距离 相对位置矢量</a:t>
            </a:r>
            <a:endParaRPr lang="en-US" altLang="zh-CN" dirty="0"/>
          </a:p>
          <a:p>
            <a:r>
              <a:rPr lang="zh-CN" altLang="en-US" dirty="0"/>
              <a:t>方向 角平分线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A7B985E3-B456-C4EC-6ED5-68F1908CE3FA}"/>
              </a:ext>
            </a:extLst>
          </p:cNvPr>
          <p:cNvCxnSpPr>
            <a:cxnSpLocks/>
          </p:cNvCxnSpPr>
          <p:nvPr/>
        </p:nvCxnSpPr>
        <p:spPr>
          <a:xfrm>
            <a:off x="4741333" y="2621495"/>
            <a:ext cx="1117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7AFC5346-EB3B-8057-5C4F-742EFD5C12F0}"/>
              </a:ext>
            </a:extLst>
          </p:cNvPr>
          <p:cNvSpPr txBox="1"/>
          <p:nvPr/>
        </p:nvSpPr>
        <p:spPr>
          <a:xfrm>
            <a:off x="6333069" y="2281653"/>
            <a:ext cx="4818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误差从 距离 拓展到 角度 和 距离，做两次</a:t>
            </a:r>
            <a:r>
              <a:rPr lang="en-US" altLang="zh-CN" dirty="0" err="1"/>
              <a:t>lqr</a:t>
            </a:r>
            <a:endParaRPr lang="en-US" altLang="zh-CN" dirty="0"/>
          </a:p>
          <a:p>
            <a:r>
              <a:rPr lang="zh-CN" altLang="en-US" dirty="0"/>
              <a:t>得到</a:t>
            </a:r>
          </a:p>
        </p:txBody>
      </p: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C1D2A5AB-5CC7-E5C9-7513-C33253E3EC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666720"/>
              </p:ext>
            </p:extLst>
          </p:nvPr>
        </p:nvGraphicFramePr>
        <p:xfrm>
          <a:off x="7143661" y="2581909"/>
          <a:ext cx="1214437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0" imgW="673200" imgH="191160" progId="Equation.AxMath">
                  <p:embed/>
                </p:oleObj>
              </mc:Choice>
              <mc:Fallback>
                <p:oleObj name="AxMath" r:id="rId10" imgW="673200" imgH="191160" progId="Equation.AxMath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C1884B56-0E93-7A22-1913-730176466E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143661" y="2581909"/>
                        <a:ext cx="1214437" cy="34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8699EE51-E4C5-9E76-2B93-34722027B0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415834"/>
              </p:ext>
            </p:extLst>
          </p:nvPr>
        </p:nvGraphicFramePr>
        <p:xfrm>
          <a:off x="8882889" y="2581909"/>
          <a:ext cx="992188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2" imgW="549000" imgH="191160" progId="Equation.AxMath">
                  <p:embed/>
                </p:oleObj>
              </mc:Choice>
              <mc:Fallback>
                <p:oleObj name="AxMath" r:id="rId12" imgW="549000" imgH="191160" progId="Equation.AxMath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C1D2A5AB-5CC7-E5C9-7513-C33253E3EC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882889" y="2581909"/>
                        <a:ext cx="992188" cy="34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2928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5DF04-444F-86F8-AFC0-0DBA8B16B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FCB1B6B-C3D9-6528-5C9C-805C585EE899}"/>
              </a:ext>
            </a:extLst>
          </p:cNvPr>
          <p:cNvSpPr txBox="1"/>
          <p:nvPr/>
        </p:nvSpPr>
        <p:spPr>
          <a:xfrm>
            <a:off x="446644" y="192699"/>
            <a:ext cx="3624710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1 </a:t>
            </a:r>
            <a:r>
              <a:rPr lang="en-US" altLang="zh-CN" sz="2400" b="1" spc="100" dirty="0" err="1">
                <a:solidFill>
                  <a:schemeClr val="accent1"/>
                </a:solidFill>
                <a:latin typeface="+mj-ea"/>
              </a:rPr>
              <a:t>lyapunov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</a:rPr>
              <a:t>稳定性证明</a:t>
            </a:r>
            <a:endParaRPr lang="zh-CN" altLang="en-US" sz="2400" b="1" spc="1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9013D02-1DD9-54EC-81AB-3E173007B70B}"/>
              </a:ext>
            </a:extLst>
          </p:cNvPr>
          <p:cNvSpPr txBox="1"/>
          <p:nvPr/>
        </p:nvSpPr>
        <p:spPr>
          <a:xfrm>
            <a:off x="446644" y="827861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对误差进行线性化处理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E37B52-AE34-DFDA-A919-941BCD08E67A}"/>
              </a:ext>
            </a:extLst>
          </p:cNvPr>
          <p:cNvSpPr txBox="1"/>
          <p:nvPr/>
        </p:nvSpPr>
        <p:spPr>
          <a:xfrm>
            <a:off x="446644" y="1555132"/>
            <a:ext cx="65550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角度和距离非线性  用相对位置线性化表示距离误差和角度误差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公共速度误差本身就是线性的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500EF62-79CE-8399-5EA5-B02961005E0F}"/>
              </a:ext>
            </a:extLst>
          </p:cNvPr>
          <p:cNvSpPr txBox="1"/>
          <p:nvPr/>
        </p:nvSpPr>
        <p:spPr>
          <a:xfrm>
            <a:off x="446644" y="595714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雅可比线性化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F79B623-4B3A-F703-5FE4-73C14B74F17D}"/>
              </a:ext>
            </a:extLst>
          </p:cNvPr>
          <p:cNvSpPr txBox="1"/>
          <p:nvPr/>
        </p:nvSpPr>
        <p:spPr>
          <a:xfrm>
            <a:off x="446644" y="2651735"/>
            <a:ext cx="6109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每个智能体需要设定相邻智能体的期望相对位置</a:t>
            </a:r>
            <a:r>
              <a:rPr lang="en-US" altLang="zh-CN" dirty="0"/>
              <a:t>(</a:t>
            </a:r>
            <a:r>
              <a:rPr lang="zh-CN" altLang="en-US" dirty="0"/>
              <a:t>期望队型</a:t>
            </a:r>
            <a:r>
              <a:rPr lang="en-US" altLang="zh-CN" dirty="0"/>
              <a:t>)</a:t>
            </a:r>
            <a:endParaRPr lang="zh-CN" altLang="en-US" dirty="0"/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2D022918-B559-D45D-C3EF-A6F447C17A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3696927"/>
              </p:ext>
            </p:extLst>
          </p:nvPr>
        </p:nvGraphicFramePr>
        <p:xfrm>
          <a:off x="446644" y="3379230"/>
          <a:ext cx="3240088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" imgW="1800000" imgH="555840" progId="Equation.AxMath">
                  <p:embed/>
                </p:oleObj>
              </mc:Choice>
              <mc:Fallback>
                <p:oleObj name="AxMath" r:id="rId2" imgW="1800000" imgH="555840" progId="Equation.AxMath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C26EF80-FD5F-F523-D8CA-349D52F03D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46644" y="3379230"/>
                        <a:ext cx="3240088" cy="1004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264FAA2-687F-A6CD-2268-E9B34A4DFB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2543134"/>
              </p:ext>
            </p:extLst>
          </p:nvPr>
        </p:nvGraphicFramePr>
        <p:xfrm>
          <a:off x="446644" y="4742280"/>
          <a:ext cx="2949575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4" imgW="1638360" imgH="374760" progId="Equation.AxMath">
                  <p:embed/>
                </p:oleObj>
              </mc:Choice>
              <mc:Fallback>
                <p:oleObj name="AxMath" r:id="rId4" imgW="1638360" imgH="374760" progId="Equation.AxMath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B5B6C817-481C-8D0A-C81A-C6B9B80668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6644" y="4742280"/>
                        <a:ext cx="2949575" cy="677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60888C9-37A1-9425-E06E-0A0641C949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982385"/>
              </p:ext>
            </p:extLst>
          </p:nvPr>
        </p:nvGraphicFramePr>
        <p:xfrm>
          <a:off x="4113213" y="4908550"/>
          <a:ext cx="115728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6" imgW="643320" imgH="191160" progId="Equation.AxMath">
                  <p:embed/>
                </p:oleObj>
              </mc:Choice>
              <mc:Fallback>
                <p:oleObj name="AxMath" r:id="rId6" imgW="643320" imgH="191160" progId="Equation.AxMath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264FAA2-687F-A6CD-2268-E9B34A4DFB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13213" y="4908550"/>
                        <a:ext cx="1157287" cy="344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5893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GE3Y2I3OTRlNTA1NjUwZGY1NGI3NTM4NWZhMGI4N2IifQ=="/>
</p:tagLst>
</file>

<file path=ppt/theme/theme1.xml><?xml version="1.0" encoding="utf-8"?>
<a:theme xmlns:a="http://schemas.openxmlformats.org/drawingml/2006/main" name="Office 主题​​">
  <a:themeElements>
    <a:clrScheme name="1-灰蓝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497B"/>
      </a:accent1>
      <a:accent2>
        <a:srgbClr val="D9D9D9"/>
      </a:accent2>
      <a:accent3>
        <a:srgbClr val="F2F2F2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1750</TotalTime>
  <Words>97</Words>
  <Application>Microsoft Office PowerPoint</Application>
  <PresentationFormat>宽屏</PresentationFormat>
  <Paragraphs>18</Paragraphs>
  <Slides>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微软雅黑</vt:lpstr>
      <vt:lpstr>Arial</vt:lpstr>
      <vt:lpstr>Office 主题​​</vt:lpstr>
      <vt:lpstr>AxMath</vt:lpstr>
      <vt:lpstr>Equation.AxMath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香 草</dc:creator>
  <cp:lastModifiedBy>铮扬 朱</cp:lastModifiedBy>
  <cp:revision>776</cp:revision>
  <dcterms:created xsi:type="dcterms:W3CDTF">2024-12-30T12:20:00Z</dcterms:created>
  <dcterms:modified xsi:type="dcterms:W3CDTF">2025-12-18T11:33:58Z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0CB2F8EEEECD470B9D8DE2D345962899_12</vt:lpwstr>
  </property>
  <property fmtid="{D5CDD505-2E9C-101B-9397-08002B2CF9AE}" pid="3" name="KSOProductBuildVer">
    <vt:lpwstr>2052-12.1.0.16120</vt:lpwstr>
  </property>
</Properties>
</file>